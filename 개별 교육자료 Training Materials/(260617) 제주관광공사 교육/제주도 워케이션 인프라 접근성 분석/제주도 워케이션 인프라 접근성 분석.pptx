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nva Sans" charset="1" panose="020B0503030501040103"/>
      <p:regular r:id="rId28"/>
    </p:embeddedFont>
    <p:embeddedFont>
      <p:font typeface="프리텐다드 Medium" charset="1" panose="02000603000000020004"/>
      <p:regular r:id="rId29"/>
    </p:embeddedFont>
    <p:embeddedFont>
      <p:font typeface="Helvetica Now" charset="1" panose="020B0504030202020204"/>
      <p:regular r:id="rId30"/>
    </p:embeddedFont>
    <p:embeddedFont>
      <p:font typeface="프리텐다드 Bold" charset="1" panose="02000803000000020004"/>
      <p:regular r:id="rId31"/>
    </p:embeddedFont>
    <p:embeddedFont>
      <p:font typeface="프리텐다드 Semi-Bold" charset="1" panose="02000703000000020004"/>
      <p:regular r:id="rId32"/>
    </p:embeddedFont>
    <p:embeddedFont>
      <p:font typeface="프리텐다드" charset="1" panose="02000503000000020004"/>
      <p:regular r:id="rId33"/>
    </p:embeddedFont>
    <p:embeddedFont>
      <p:font typeface="프리텐다드 Light" charset="1" panose="020004030000000200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2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ln w="19050" cap="sq">
              <a:solidFill>
                <a:srgbClr val="8BA7E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39468" y="528871"/>
            <a:ext cx="3086100" cy="645859"/>
            <a:chOff x="0" y="0"/>
            <a:chExt cx="812800" cy="1701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70103"/>
            </a:xfrm>
            <a:custGeom>
              <a:avLst/>
              <a:gdLst/>
              <a:ahLst/>
              <a:cxnLst/>
              <a:rect r="r" b="b" t="t" l="l"/>
              <a:pathLst>
                <a:path h="170103" w="812800">
                  <a:moveTo>
                    <a:pt x="85051" y="0"/>
                  </a:moveTo>
                  <a:lnTo>
                    <a:pt x="727749" y="0"/>
                  </a:lnTo>
                  <a:cubicBezTo>
                    <a:pt x="750306" y="0"/>
                    <a:pt x="771939" y="8961"/>
                    <a:pt x="787889" y="24911"/>
                  </a:cubicBezTo>
                  <a:cubicBezTo>
                    <a:pt x="803839" y="40861"/>
                    <a:pt x="812800" y="62494"/>
                    <a:pt x="812800" y="85051"/>
                  </a:cubicBezTo>
                  <a:lnTo>
                    <a:pt x="812800" y="85051"/>
                  </a:lnTo>
                  <a:cubicBezTo>
                    <a:pt x="812800" y="107608"/>
                    <a:pt x="803839" y="129242"/>
                    <a:pt x="787889" y="145192"/>
                  </a:cubicBezTo>
                  <a:cubicBezTo>
                    <a:pt x="771939" y="161142"/>
                    <a:pt x="750306" y="170103"/>
                    <a:pt x="727749" y="170103"/>
                  </a:cubicBezTo>
                  <a:lnTo>
                    <a:pt x="85051" y="170103"/>
                  </a:lnTo>
                  <a:cubicBezTo>
                    <a:pt x="62494" y="170103"/>
                    <a:pt x="40861" y="161142"/>
                    <a:pt x="24911" y="145192"/>
                  </a:cubicBezTo>
                  <a:cubicBezTo>
                    <a:pt x="8961" y="129242"/>
                    <a:pt x="0" y="107608"/>
                    <a:pt x="0" y="85051"/>
                  </a:cubicBezTo>
                  <a:lnTo>
                    <a:pt x="0" y="85051"/>
                  </a:lnTo>
                  <a:cubicBezTo>
                    <a:pt x="0" y="62494"/>
                    <a:pt x="8961" y="40861"/>
                    <a:pt x="24911" y="24911"/>
                  </a:cubicBezTo>
                  <a:cubicBezTo>
                    <a:pt x="40861" y="8961"/>
                    <a:pt x="62494" y="0"/>
                    <a:pt x="85051" y="0"/>
                  </a:cubicBezTo>
                  <a:close/>
                </a:path>
              </a:pathLst>
            </a:custGeom>
            <a:solidFill>
              <a:srgbClr val="122B6B"/>
            </a:solidFill>
            <a:ln w="19050" cap="rnd">
              <a:solidFill>
                <a:srgbClr val="8BA7E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12800" cy="179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660851" y="705440"/>
            <a:ext cx="264333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8C2FE"/>
                </a:solidFill>
                <a:latin typeface="Canva Sans"/>
                <a:ea typeface="Canva Sans"/>
                <a:cs typeface="Canva Sans"/>
                <a:sym typeface="Canva Sans"/>
              </a:rPr>
              <a:t>공간정보서비스과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04047" y="7330375"/>
          <a:ext cx="6312562" cy="1345521"/>
        </p:xfrm>
        <a:graphic>
          <a:graphicData uri="http://schemas.openxmlformats.org/drawingml/2006/table">
            <a:tbl>
              <a:tblPr/>
              <a:tblGrid>
                <a:gridCol w="2366537"/>
                <a:gridCol w="3946025"/>
              </a:tblGrid>
              <a:tr h="671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작성인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공간정보서비스과 청년인턴 임다원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</a:t>
                      </a: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일자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2026년  8월  6일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204047" y="3819512"/>
            <a:ext cx="9351073" cy="52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8C2FE"/>
                </a:solidFill>
                <a:latin typeface="Helvetica Now"/>
                <a:ea typeface="Helvetica Now"/>
                <a:cs typeface="Helvetica Now"/>
                <a:sym typeface="Helvetica Now"/>
              </a:rPr>
              <a:t>공간정보서비스과 QGIS ORS 분석사례 PPT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047" y="2381237"/>
            <a:ext cx="1228945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true">
                <a:solidFill>
                  <a:srgbClr val="F6F6F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제주도 워케이션 인프라 접근성 분석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97903" y="3559892"/>
            <a:ext cx="979117" cy="637881"/>
            <a:chOff x="0" y="0"/>
            <a:chExt cx="201891" cy="131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891" cy="131529"/>
            </a:xfrm>
            <a:custGeom>
              <a:avLst/>
              <a:gdLst/>
              <a:ahLst/>
              <a:cxnLst/>
              <a:rect r="r" b="b" t="t" l="l"/>
              <a:pathLst>
                <a:path h="131529" w="201891">
                  <a:moveTo>
                    <a:pt x="65765" y="0"/>
                  </a:moveTo>
                  <a:lnTo>
                    <a:pt x="136127" y="0"/>
                  </a:lnTo>
                  <a:cubicBezTo>
                    <a:pt x="172447" y="0"/>
                    <a:pt x="201891" y="29444"/>
                    <a:pt x="201891" y="65765"/>
                  </a:cubicBezTo>
                  <a:lnTo>
                    <a:pt x="201891" y="65765"/>
                  </a:lnTo>
                  <a:cubicBezTo>
                    <a:pt x="201891" y="102085"/>
                    <a:pt x="172447" y="131529"/>
                    <a:pt x="136127" y="131529"/>
                  </a:cubicBezTo>
                  <a:lnTo>
                    <a:pt x="65765" y="131529"/>
                  </a:lnTo>
                  <a:cubicBezTo>
                    <a:pt x="29444" y="131529"/>
                    <a:pt x="0" y="102085"/>
                    <a:pt x="0" y="65765"/>
                  </a:cubicBezTo>
                  <a:lnTo>
                    <a:pt x="0" y="65765"/>
                  </a:lnTo>
                  <a:cubicBezTo>
                    <a:pt x="0" y="29444"/>
                    <a:pt x="29444" y="0"/>
                    <a:pt x="65765" y="0"/>
                  </a:cubicBezTo>
                  <a:close/>
                </a:path>
              </a:pathLst>
            </a:custGeom>
            <a:solidFill>
              <a:srgbClr val="5067D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1891" cy="14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7903" y="5873841"/>
            <a:ext cx="979117" cy="637881"/>
            <a:chOff x="0" y="0"/>
            <a:chExt cx="201891" cy="131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891" cy="131529"/>
            </a:xfrm>
            <a:custGeom>
              <a:avLst/>
              <a:gdLst/>
              <a:ahLst/>
              <a:cxnLst/>
              <a:rect r="r" b="b" t="t" l="l"/>
              <a:pathLst>
                <a:path h="131529" w="201891">
                  <a:moveTo>
                    <a:pt x="65765" y="0"/>
                  </a:moveTo>
                  <a:lnTo>
                    <a:pt x="136127" y="0"/>
                  </a:lnTo>
                  <a:cubicBezTo>
                    <a:pt x="172447" y="0"/>
                    <a:pt x="201891" y="29444"/>
                    <a:pt x="201891" y="65765"/>
                  </a:cubicBezTo>
                  <a:lnTo>
                    <a:pt x="201891" y="65765"/>
                  </a:lnTo>
                  <a:cubicBezTo>
                    <a:pt x="201891" y="102085"/>
                    <a:pt x="172447" y="131529"/>
                    <a:pt x="136127" y="131529"/>
                  </a:cubicBezTo>
                  <a:lnTo>
                    <a:pt x="65765" y="131529"/>
                  </a:lnTo>
                  <a:cubicBezTo>
                    <a:pt x="29444" y="131529"/>
                    <a:pt x="0" y="102085"/>
                    <a:pt x="0" y="65765"/>
                  </a:cubicBezTo>
                  <a:lnTo>
                    <a:pt x="0" y="65765"/>
                  </a:lnTo>
                  <a:cubicBezTo>
                    <a:pt x="0" y="29444"/>
                    <a:pt x="29444" y="0"/>
                    <a:pt x="65765" y="0"/>
                  </a:cubicBezTo>
                  <a:close/>
                </a:path>
              </a:pathLst>
            </a:custGeom>
            <a:solidFill>
              <a:srgbClr val="5067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891" cy="14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35266" y="3559892"/>
            <a:ext cx="979117" cy="637881"/>
            <a:chOff x="0" y="0"/>
            <a:chExt cx="201891" cy="131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891" cy="131529"/>
            </a:xfrm>
            <a:custGeom>
              <a:avLst/>
              <a:gdLst/>
              <a:ahLst/>
              <a:cxnLst/>
              <a:rect r="r" b="b" t="t" l="l"/>
              <a:pathLst>
                <a:path h="131529" w="201891">
                  <a:moveTo>
                    <a:pt x="65765" y="0"/>
                  </a:moveTo>
                  <a:lnTo>
                    <a:pt x="136127" y="0"/>
                  </a:lnTo>
                  <a:cubicBezTo>
                    <a:pt x="172447" y="0"/>
                    <a:pt x="201891" y="29444"/>
                    <a:pt x="201891" y="65765"/>
                  </a:cubicBezTo>
                  <a:lnTo>
                    <a:pt x="201891" y="65765"/>
                  </a:lnTo>
                  <a:cubicBezTo>
                    <a:pt x="201891" y="102085"/>
                    <a:pt x="172447" y="131529"/>
                    <a:pt x="136127" y="131529"/>
                  </a:cubicBezTo>
                  <a:lnTo>
                    <a:pt x="65765" y="131529"/>
                  </a:lnTo>
                  <a:cubicBezTo>
                    <a:pt x="29444" y="131529"/>
                    <a:pt x="0" y="102085"/>
                    <a:pt x="0" y="65765"/>
                  </a:cubicBezTo>
                  <a:lnTo>
                    <a:pt x="0" y="65765"/>
                  </a:lnTo>
                  <a:cubicBezTo>
                    <a:pt x="0" y="29444"/>
                    <a:pt x="29444" y="0"/>
                    <a:pt x="65765" y="0"/>
                  </a:cubicBezTo>
                  <a:close/>
                </a:path>
              </a:pathLst>
            </a:custGeom>
            <a:solidFill>
              <a:srgbClr val="5067D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891" cy="14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35266" y="5873841"/>
            <a:ext cx="979117" cy="637881"/>
            <a:chOff x="0" y="0"/>
            <a:chExt cx="201891" cy="1315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891" cy="131529"/>
            </a:xfrm>
            <a:custGeom>
              <a:avLst/>
              <a:gdLst/>
              <a:ahLst/>
              <a:cxnLst/>
              <a:rect r="r" b="b" t="t" l="l"/>
              <a:pathLst>
                <a:path h="131529" w="201891">
                  <a:moveTo>
                    <a:pt x="65765" y="0"/>
                  </a:moveTo>
                  <a:lnTo>
                    <a:pt x="136127" y="0"/>
                  </a:lnTo>
                  <a:cubicBezTo>
                    <a:pt x="172447" y="0"/>
                    <a:pt x="201891" y="29444"/>
                    <a:pt x="201891" y="65765"/>
                  </a:cubicBezTo>
                  <a:lnTo>
                    <a:pt x="201891" y="65765"/>
                  </a:lnTo>
                  <a:cubicBezTo>
                    <a:pt x="201891" y="102085"/>
                    <a:pt x="172447" y="131529"/>
                    <a:pt x="136127" y="131529"/>
                  </a:cubicBezTo>
                  <a:lnTo>
                    <a:pt x="65765" y="131529"/>
                  </a:lnTo>
                  <a:cubicBezTo>
                    <a:pt x="29444" y="131529"/>
                    <a:pt x="0" y="102085"/>
                    <a:pt x="0" y="65765"/>
                  </a:cubicBezTo>
                  <a:lnTo>
                    <a:pt x="0" y="65765"/>
                  </a:lnTo>
                  <a:cubicBezTo>
                    <a:pt x="0" y="29444"/>
                    <a:pt x="29444" y="0"/>
                    <a:pt x="65765" y="0"/>
                  </a:cubicBezTo>
                  <a:close/>
                </a:path>
              </a:pathLst>
            </a:custGeom>
            <a:solidFill>
              <a:srgbClr val="5067D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1891" cy="14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04047" y="1811423"/>
            <a:ext cx="5050450" cy="112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b="true" sz="6499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목차페이지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822" y="1455389"/>
            <a:ext cx="2451450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Contents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81626" y="3400609"/>
            <a:ext cx="811671" cy="73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3448" spc="68">
                <a:solidFill>
                  <a:srgbClr val="FDFDF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1626" y="5714558"/>
            <a:ext cx="811671" cy="73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3448" spc="68">
                <a:solidFill>
                  <a:srgbClr val="FDFDF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8989" y="3400609"/>
            <a:ext cx="811671" cy="73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3448" spc="68">
                <a:solidFill>
                  <a:srgbClr val="FDFDF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18989" y="5714558"/>
            <a:ext cx="811671" cy="73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3448" spc="68">
                <a:solidFill>
                  <a:srgbClr val="FDFDF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95424" y="3254447"/>
            <a:ext cx="4396510" cy="9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0"/>
              </a:lnSpc>
              <a:spcBef>
                <a:spcPct val="0"/>
              </a:spcBef>
            </a:pPr>
            <a:r>
              <a:rPr lang="en-US" b="true" sz="447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배경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95424" y="5568396"/>
            <a:ext cx="4622155" cy="9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0"/>
              </a:lnSpc>
              <a:spcBef>
                <a:spcPct val="0"/>
              </a:spcBef>
            </a:pPr>
            <a:r>
              <a:rPr lang="en-US" b="true" sz="447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전처리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32786" y="3254447"/>
            <a:ext cx="4926407" cy="9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0"/>
              </a:lnSpc>
              <a:spcBef>
                <a:spcPct val="0"/>
              </a:spcBef>
            </a:pPr>
            <a:r>
              <a:rPr lang="en-US" b="true" sz="447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 데이터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32786" y="5568396"/>
            <a:ext cx="4464306" cy="9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0"/>
              </a:lnSpc>
              <a:spcBef>
                <a:spcPct val="0"/>
              </a:spcBef>
            </a:pPr>
            <a:r>
              <a:rPr lang="en-US" b="true" sz="447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ORS Tools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95424" y="4341917"/>
            <a:ext cx="4396510" cy="34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주제 및 분석 대상지</a:t>
            </a: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 선정이유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95424" y="6653079"/>
            <a:ext cx="4396510" cy="34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지오코딩 및 데이터 정리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62482" y="4341917"/>
            <a:ext cx="4981347" cy="34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활용 데이터 소개 및</a:t>
            </a: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 전처리</a:t>
            </a: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 과정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72007" y="6653079"/>
            <a:ext cx="4396510" cy="34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ORS Tools 소개 및 등록 방법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297903" y="8108803"/>
            <a:ext cx="979117" cy="637881"/>
            <a:chOff x="0" y="0"/>
            <a:chExt cx="201891" cy="1315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1891" cy="131529"/>
            </a:xfrm>
            <a:custGeom>
              <a:avLst/>
              <a:gdLst/>
              <a:ahLst/>
              <a:cxnLst/>
              <a:rect r="r" b="b" t="t" l="l"/>
              <a:pathLst>
                <a:path h="131529" w="201891">
                  <a:moveTo>
                    <a:pt x="65765" y="0"/>
                  </a:moveTo>
                  <a:lnTo>
                    <a:pt x="136127" y="0"/>
                  </a:lnTo>
                  <a:cubicBezTo>
                    <a:pt x="172447" y="0"/>
                    <a:pt x="201891" y="29444"/>
                    <a:pt x="201891" y="65765"/>
                  </a:cubicBezTo>
                  <a:lnTo>
                    <a:pt x="201891" y="65765"/>
                  </a:lnTo>
                  <a:cubicBezTo>
                    <a:pt x="201891" y="102085"/>
                    <a:pt x="172447" y="131529"/>
                    <a:pt x="136127" y="131529"/>
                  </a:cubicBezTo>
                  <a:lnTo>
                    <a:pt x="65765" y="131529"/>
                  </a:lnTo>
                  <a:cubicBezTo>
                    <a:pt x="29444" y="131529"/>
                    <a:pt x="0" y="102085"/>
                    <a:pt x="0" y="65765"/>
                  </a:cubicBezTo>
                  <a:lnTo>
                    <a:pt x="0" y="65765"/>
                  </a:lnTo>
                  <a:cubicBezTo>
                    <a:pt x="0" y="29444"/>
                    <a:pt x="29444" y="0"/>
                    <a:pt x="65765" y="0"/>
                  </a:cubicBezTo>
                  <a:close/>
                </a:path>
              </a:pathLst>
            </a:custGeom>
            <a:solidFill>
              <a:srgbClr val="5067D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01891" cy="14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35266" y="8108803"/>
            <a:ext cx="979117" cy="637881"/>
            <a:chOff x="0" y="0"/>
            <a:chExt cx="201891" cy="1315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891" cy="131529"/>
            </a:xfrm>
            <a:custGeom>
              <a:avLst/>
              <a:gdLst/>
              <a:ahLst/>
              <a:cxnLst/>
              <a:rect r="r" b="b" t="t" l="l"/>
              <a:pathLst>
                <a:path h="131529" w="201891">
                  <a:moveTo>
                    <a:pt x="65765" y="0"/>
                  </a:moveTo>
                  <a:lnTo>
                    <a:pt x="136127" y="0"/>
                  </a:lnTo>
                  <a:cubicBezTo>
                    <a:pt x="172447" y="0"/>
                    <a:pt x="201891" y="29444"/>
                    <a:pt x="201891" y="65765"/>
                  </a:cubicBezTo>
                  <a:lnTo>
                    <a:pt x="201891" y="65765"/>
                  </a:lnTo>
                  <a:cubicBezTo>
                    <a:pt x="201891" y="102085"/>
                    <a:pt x="172447" y="131529"/>
                    <a:pt x="136127" y="131529"/>
                  </a:cubicBezTo>
                  <a:lnTo>
                    <a:pt x="65765" y="131529"/>
                  </a:lnTo>
                  <a:cubicBezTo>
                    <a:pt x="29444" y="131529"/>
                    <a:pt x="0" y="102085"/>
                    <a:pt x="0" y="65765"/>
                  </a:cubicBezTo>
                  <a:lnTo>
                    <a:pt x="0" y="65765"/>
                  </a:lnTo>
                  <a:cubicBezTo>
                    <a:pt x="0" y="29444"/>
                    <a:pt x="29444" y="0"/>
                    <a:pt x="65765" y="0"/>
                  </a:cubicBezTo>
                  <a:close/>
                </a:path>
              </a:pathLst>
            </a:custGeom>
            <a:solidFill>
              <a:srgbClr val="5067D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01891" cy="141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381626" y="7949520"/>
            <a:ext cx="811671" cy="73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3448" spc="68">
                <a:solidFill>
                  <a:srgbClr val="FDFDF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18989" y="7949520"/>
            <a:ext cx="811671" cy="73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3448" spc="68">
                <a:solidFill>
                  <a:srgbClr val="FDFDF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95424" y="7803358"/>
            <a:ext cx="4622155" cy="9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0"/>
              </a:lnSpc>
              <a:spcBef>
                <a:spcPct val="0"/>
              </a:spcBef>
            </a:pPr>
            <a:r>
              <a:rPr lang="en-US" b="true" sz="447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32786" y="7803358"/>
            <a:ext cx="4464306" cy="9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70"/>
              </a:lnSpc>
              <a:spcBef>
                <a:spcPct val="0"/>
              </a:spcBef>
            </a:pPr>
            <a:r>
              <a:rPr lang="en-US" b="true" sz="447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결과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495424" y="8888041"/>
            <a:ext cx="4396510" cy="34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ORS Tools 활용한 분석과정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72007" y="8888041"/>
            <a:ext cx="4396510" cy="340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결과 시각화 및</a:t>
            </a:r>
            <a:r>
              <a:rPr lang="en-US" sz="2299">
                <a:solidFill>
                  <a:srgbClr val="6072A1"/>
                </a:solidFill>
                <a:latin typeface="Helvetica Now"/>
                <a:ea typeface="Helvetica Now"/>
                <a:cs typeface="Helvetica Now"/>
                <a:sym typeface="Helvetica Now"/>
              </a:rPr>
              <a:t> 해석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3594" y="3627671"/>
            <a:ext cx="8391798" cy="4652346"/>
            <a:chOff x="0" y="0"/>
            <a:chExt cx="1844305" cy="10224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4305" cy="1022401"/>
            </a:xfrm>
            <a:custGeom>
              <a:avLst/>
              <a:gdLst/>
              <a:ahLst/>
              <a:cxnLst/>
              <a:rect r="r" b="b" t="t" l="l"/>
              <a:pathLst>
                <a:path h="1022401" w="1844305">
                  <a:moveTo>
                    <a:pt x="1844305" y="0"/>
                  </a:moveTo>
                  <a:lnTo>
                    <a:pt x="1844305" y="1022401"/>
                  </a:lnTo>
                  <a:lnTo>
                    <a:pt x="0" y="1022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44305" cy="1070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2607" y="3627671"/>
            <a:ext cx="8391798" cy="4652346"/>
            <a:chOff x="0" y="0"/>
            <a:chExt cx="1844305" cy="10224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44305" cy="1022401"/>
            </a:xfrm>
            <a:custGeom>
              <a:avLst/>
              <a:gdLst/>
              <a:ahLst/>
              <a:cxnLst/>
              <a:rect r="r" b="b" t="t" l="l"/>
              <a:pathLst>
                <a:path h="1022401" w="1844305">
                  <a:moveTo>
                    <a:pt x="1844305" y="0"/>
                  </a:moveTo>
                  <a:lnTo>
                    <a:pt x="1844305" y="1022401"/>
                  </a:lnTo>
                  <a:lnTo>
                    <a:pt x="0" y="1022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44305" cy="10700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098738" y="4334849"/>
            <a:ext cx="606343" cy="560040"/>
          </a:xfrm>
          <a:custGeom>
            <a:avLst/>
            <a:gdLst/>
            <a:ahLst/>
            <a:cxnLst/>
            <a:rect r="r" b="b" t="t" l="l"/>
            <a:pathLst>
              <a:path h="560040" w="606343">
                <a:moveTo>
                  <a:pt x="0" y="0"/>
                </a:moveTo>
                <a:lnTo>
                  <a:pt x="606343" y="0"/>
                </a:lnTo>
                <a:lnTo>
                  <a:pt x="606343" y="560041"/>
                </a:lnTo>
                <a:lnTo>
                  <a:pt x="0" y="560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39881" y="5873223"/>
            <a:ext cx="7995004" cy="193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220" indent="-284610" lvl="1">
              <a:lnSpc>
                <a:spcPts val="5272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선행연구, 「제주지역 워케이션 활성화 방안」(2023)</a:t>
            </a:r>
          </a:p>
          <a:p>
            <a:pPr algn="l" marL="569220" indent="-284610" lvl="1">
              <a:lnSpc>
                <a:spcPts val="5272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공유업무시설-숙박시설 간 공간적 미스매치 존재</a:t>
            </a:r>
          </a:p>
          <a:p>
            <a:pPr algn="l" marL="569220" indent="-284610" lvl="1">
              <a:lnSpc>
                <a:spcPts val="5272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기업 워케이션 담당자 선호 1위 숙박 : 호텔업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76302" y="4201481"/>
            <a:ext cx="6200829" cy="68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3595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주제 선정 배경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69725" y="4334849"/>
            <a:ext cx="606343" cy="560040"/>
          </a:xfrm>
          <a:custGeom>
            <a:avLst/>
            <a:gdLst/>
            <a:ahLst/>
            <a:cxnLst/>
            <a:rect r="r" b="b" t="t" l="l"/>
            <a:pathLst>
              <a:path h="560040" w="606343">
                <a:moveTo>
                  <a:pt x="0" y="0"/>
                </a:moveTo>
                <a:lnTo>
                  <a:pt x="606343" y="0"/>
                </a:lnTo>
                <a:lnTo>
                  <a:pt x="606343" y="560041"/>
                </a:lnTo>
                <a:lnTo>
                  <a:pt x="0" y="560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10868" y="5251224"/>
            <a:ext cx="7795531" cy="193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220" indent="-284610" lvl="1">
              <a:lnSpc>
                <a:spcPts val="5272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제주연구원 교육자료 필요</a:t>
            </a:r>
          </a:p>
          <a:p>
            <a:pPr algn="l" marL="569220" indent="-284610" lvl="1">
              <a:lnSpc>
                <a:spcPts val="5272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Isochrones(도달 가능 영역) 분석을 통한 접근성 분석</a:t>
            </a:r>
          </a:p>
          <a:p>
            <a:pPr algn="l" marL="569220" indent="-284610" lvl="1">
              <a:lnSpc>
                <a:spcPts val="5272"/>
              </a:lnSpc>
              <a:buFont typeface="Arial"/>
              <a:buChar char="•"/>
            </a:pPr>
            <a:r>
              <a:rPr lang="en-US" sz="263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접근성 분석을 통한 인프라 불일치 확인 및 제안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7289" y="4201481"/>
            <a:ext cx="6200829" cy="68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3595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ORS를 이용한 중급분석 사례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82671" y="1319719"/>
            <a:ext cx="8922657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배경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5370" y="2487746"/>
            <a:ext cx="11397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6072A1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분석 주제 및 분석 대상지 선정이유 소개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05468" y="5136924"/>
            <a:ext cx="652180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b="true" sz="3000">
                <a:solidFill>
                  <a:srgbClr val="122B6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주</a:t>
            </a:r>
            <a:r>
              <a:rPr lang="en-US" b="true" sz="3000">
                <a:solidFill>
                  <a:srgbClr val="122B6B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제 : 제주도 워케이션 인프라 접근성 분석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82671" y="1319719"/>
            <a:ext cx="8922657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활용 데이터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37423" y="2495713"/>
            <a:ext cx="15213154" cy="1201594"/>
            <a:chOff x="0" y="0"/>
            <a:chExt cx="3868472" cy="3055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8472" cy="305547"/>
            </a:xfrm>
            <a:custGeom>
              <a:avLst/>
              <a:gdLst/>
              <a:ahLst/>
              <a:cxnLst/>
              <a:rect r="r" b="b" t="t" l="l"/>
              <a:pathLst>
                <a:path h="305547" w="3868472">
                  <a:moveTo>
                    <a:pt x="0" y="0"/>
                  </a:moveTo>
                  <a:lnTo>
                    <a:pt x="3868472" y="0"/>
                  </a:lnTo>
                  <a:lnTo>
                    <a:pt x="3868472" y="305547"/>
                  </a:lnTo>
                  <a:lnTo>
                    <a:pt x="0" y="30554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68472" cy="353172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37423" y="5701574"/>
            <a:ext cx="15213154" cy="2724654"/>
            <a:chOff x="0" y="0"/>
            <a:chExt cx="3868472" cy="692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68472" cy="692838"/>
            </a:xfrm>
            <a:custGeom>
              <a:avLst/>
              <a:gdLst/>
              <a:ahLst/>
              <a:cxnLst/>
              <a:rect r="r" b="b" t="t" l="l"/>
              <a:pathLst>
                <a:path h="692838" w="3868472">
                  <a:moveTo>
                    <a:pt x="0" y="0"/>
                  </a:moveTo>
                  <a:lnTo>
                    <a:pt x="3868472" y="0"/>
                  </a:lnTo>
                  <a:lnTo>
                    <a:pt x="3868472" y="692838"/>
                  </a:lnTo>
                  <a:lnTo>
                    <a:pt x="0" y="69283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868472" cy="74046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1363" y="2725445"/>
            <a:ext cx="385640" cy="356191"/>
          </a:xfrm>
          <a:custGeom>
            <a:avLst/>
            <a:gdLst/>
            <a:ahLst/>
            <a:cxnLst/>
            <a:rect r="r" b="b" t="t" l="l"/>
            <a:pathLst>
              <a:path h="356191" w="385640">
                <a:moveTo>
                  <a:pt x="0" y="0"/>
                </a:moveTo>
                <a:lnTo>
                  <a:pt x="385640" y="0"/>
                </a:lnTo>
                <a:lnTo>
                  <a:pt x="385640" y="356192"/>
                </a:lnTo>
                <a:lnTo>
                  <a:pt x="0" y="35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50990" y="3213390"/>
            <a:ext cx="62382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2026 제주 워케이션 안내 리플렛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76561" y="2687771"/>
            <a:ext cx="978391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제주도 공유업무시설 현황 데이터 (출처 : 제주특별자치도청)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231363" y="5903157"/>
            <a:ext cx="6764636" cy="390525"/>
            <a:chOff x="0" y="0"/>
            <a:chExt cx="9019515" cy="520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37532"/>
              <a:ext cx="514187" cy="474922"/>
            </a:xfrm>
            <a:custGeom>
              <a:avLst/>
              <a:gdLst/>
              <a:ahLst/>
              <a:cxnLst/>
              <a:rect r="r" b="b" t="t" l="l"/>
              <a:pathLst>
                <a:path h="474922" w="514187">
                  <a:moveTo>
                    <a:pt x="0" y="0"/>
                  </a:moveTo>
                  <a:lnTo>
                    <a:pt x="514187" y="0"/>
                  </a:lnTo>
                  <a:lnTo>
                    <a:pt x="514187" y="474922"/>
                  </a:lnTo>
                  <a:lnTo>
                    <a:pt x="0" y="474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726931" y="-9525"/>
              <a:ext cx="8292585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행정구역 경계 데이터 (출처 : SGIS)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46440" y="6493596"/>
            <a:ext cx="666884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bnd_sido_39_2025_2Q.shp (제주특별자치도)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bnd_sigungu_39010_2025_2Q.shp (제주시_시군구)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bnd_sigungu_39020_2025_2Q.shp (서귀포시_시군구)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bnd_dong_39010_2025_2Q.shp (제주시_읍면동)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bnd_dong_39020_2025_2Q.shp (서귀포시_읍면동)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37423" y="8638351"/>
            <a:ext cx="15213154" cy="1230546"/>
            <a:chOff x="0" y="0"/>
            <a:chExt cx="3868472" cy="3129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68472" cy="312909"/>
            </a:xfrm>
            <a:custGeom>
              <a:avLst/>
              <a:gdLst/>
              <a:ahLst/>
              <a:cxnLst/>
              <a:rect r="r" b="b" t="t" l="l"/>
              <a:pathLst>
                <a:path h="312909" w="3868472">
                  <a:moveTo>
                    <a:pt x="0" y="0"/>
                  </a:moveTo>
                  <a:lnTo>
                    <a:pt x="3868472" y="0"/>
                  </a:lnTo>
                  <a:lnTo>
                    <a:pt x="3868472" y="312909"/>
                  </a:lnTo>
                  <a:lnTo>
                    <a:pt x="0" y="312909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868472" cy="36053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231363" y="8876050"/>
            <a:ext cx="385640" cy="356191"/>
          </a:xfrm>
          <a:custGeom>
            <a:avLst/>
            <a:gdLst/>
            <a:ahLst/>
            <a:cxnLst/>
            <a:rect r="r" b="b" t="t" l="l"/>
            <a:pathLst>
              <a:path h="356191" w="385640">
                <a:moveTo>
                  <a:pt x="0" y="0"/>
                </a:moveTo>
                <a:lnTo>
                  <a:pt x="385640" y="0"/>
                </a:lnTo>
                <a:lnTo>
                  <a:pt x="385640" y="356192"/>
                </a:lnTo>
                <a:lnTo>
                  <a:pt x="0" y="356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776561" y="8838376"/>
            <a:ext cx="479120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격자 경계 데이터 (출처 : SGIS)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46440" y="9371776"/>
            <a:ext cx="81621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grid_나나_1K.shp, grid</a:t>
            </a: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_나다_1K.shp, grid_다나_1K.shp, grid_다다_1K.shp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37423" y="3909430"/>
            <a:ext cx="15213154" cy="1582594"/>
            <a:chOff x="0" y="0"/>
            <a:chExt cx="3868472" cy="4024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68472" cy="402429"/>
            </a:xfrm>
            <a:custGeom>
              <a:avLst/>
              <a:gdLst/>
              <a:ahLst/>
              <a:cxnLst/>
              <a:rect r="r" b="b" t="t" l="l"/>
              <a:pathLst>
                <a:path h="402429" w="3868472">
                  <a:moveTo>
                    <a:pt x="0" y="0"/>
                  </a:moveTo>
                  <a:lnTo>
                    <a:pt x="3868472" y="0"/>
                  </a:lnTo>
                  <a:lnTo>
                    <a:pt x="3868472" y="402429"/>
                  </a:lnTo>
                  <a:lnTo>
                    <a:pt x="0" y="402429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868472" cy="45005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231363" y="4139163"/>
            <a:ext cx="385640" cy="356191"/>
          </a:xfrm>
          <a:custGeom>
            <a:avLst/>
            <a:gdLst/>
            <a:ahLst/>
            <a:cxnLst/>
            <a:rect r="r" b="b" t="t" l="l"/>
            <a:pathLst>
              <a:path h="356191" w="385640">
                <a:moveTo>
                  <a:pt x="0" y="0"/>
                </a:moveTo>
                <a:lnTo>
                  <a:pt x="385640" y="0"/>
                </a:lnTo>
                <a:lnTo>
                  <a:pt x="385640" y="356191"/>
                </a:lnTo>
                <a:lnTo>
                  <a:pt x="0" y="356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50990" y="4627108"/>
            <a:ext cx="862654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5. 숙박시설 현황 세부내역(26. 4. 30.기준).xlsx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-40">
                <a:solidFill>
                  <a:srgbClr val="000000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6. 숙박시설(농어촌민박) 현황 세부내역(26. 4. 30. 기준).xlsx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76561" y="4101489"/>
            <a:ext cx="899894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제주도 숙박시설 현황 데이터 (출처 : 제주특별자치도관광협회)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3341" y="3171558"/>
            <a:ext cx="8084911" cy="6633353"/>
            <a:chOff x="0" y="0"/>
            <a:chExt cx="2256892" cy="1851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892" cy="1851570"/>
            </a:xfrm>
            <a:custGeom>
              <a:avLst/>
              <a:gdLst/>
              <a:ahLst/>
              <a:cxnLst/>
              <a:rect r="r" b="b" t="t" l="l"/>
              <a:pathLst>
                <a:path h="1851570" w="2256892">
                  <a:moveTo>
                    <a:pt x="2256892" y="0"/>
                  </a:moveTo>
                  <a:lnTo>
                    <a:pt x="2256892" y="1851570"/>
                  </a:lnTo>
                  <a:lnTo>
                    <a:pt x="0" y="1851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56892" cy="189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8240" y="3919288"/>
            <a:ext cx="6735912" cy="5849159"/>
          </a:xfrm>
          <a:custGeom>
            <a:avLst/>
            <a:gdLst/>
            <a:ahLst/>
            <a:cxnLst/>
            <a:rect r="r" b="b" t="t" l="l"/>
            <a:pathLst>
              <a:path h="5849159" w="6735912">
                <a:moveTo>
                  <a:pt x="0" y="0"/>
                </a:moveTo>
                <a:lnTo>
                  <a:pt x="6735912" y="0"/>
                </a:lnTo>
                <a:lnTo>
                  <a:pt x="6735912" y="5849159"/>
                </a:lnTo>
                <a:lnTo>
                  <a:pt x="0" y="5849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62063" y="3171558"/>
            <a:ext cx="8260076" cy="6633353"/>
            <a:chOff x="0" y="0"/>
            <a:chExt cx="2305789" cy="18515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5789" cy="1851570"/>
            </a:xfrm>
            <a:custGeom>
              <a:avLst/>
              <a:gdLst/>
              <a:ahLst/>
              <a:cxnLst/>
              <a:rect r="r" b="b" t="t" l="l"/>
              <a:pathLst>
                <a:path h="1851570" w="2305789">
                  <a:moveTo>
                    <a:pt x="2305789" y="0"/>
                  </a:moveTo>
                  <a:lnTo>
                    <a:pt x="2305789" y="1851570"/>
                  </a:lnTo>
                  <a:lnTo>
                    <a:pt x="0" y="1851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05789" cy="1899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308418" y="4637247"/>
            <a:ext cx="3671986" cy="4468360"/>
          </a:xfrm>
          <a:custGeom>
            <a:avLst/>
            <a:gdLst/>
            <a:ahLst/>
            <a:cxnLst/>
            <a:rect r="r" b="b" t="t" l="l"/>
            <a:pathLst>
              <a:path h="4468360" w="3671986">
                <a:moveTo>
                  <a:pt x="0" y="0"/>
                </a:moveTo>
                <a:lnTo>
                  <a:pt x="3671986" y="0"/>
                </a:lnTo>
                <a:lnTo>
                  <a:pt x="3671986" y="4468360"/>
                </a:lnTo>
                <a:lnTo>
                  <a:pt x="0" y="4468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41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6975" y="9436021"/>
            <a:ext cx="1011350" cy="397466"/>
            <a:chOff x="0" y="0"/>
            <a:chExt cx="257171" cy="1010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7171" cy="101069"/>
            </a:xfrm>
            <a:custGeom>
              <a:avLst/>
              <a:gdLst/>
              <a:ahLst/>
              <a:cxnLst/>
              <a:rect r="r" b="b" t="t" l="l"/>
              <a:pathLst>
                <a:path h="101069" w="257171">
                  <a:moveTo>
                    <a:pt x="0" y="0"/>
                  </a:moveTo>
                  <a:lnTo>
                    <a:pt x="257171" y="0"/>
                  </a:lnTo>
                  <a:lnTo>
                    <a:pt x="257171" y="101069"/>
                  </a:lnTo>
                  <a:lnTo>
                    <a:pt x="0" y="101069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57171" cy="14869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6025" y="5563876"/>
            <a:ext cx="848752" cy="354106"/>
            <a:chOff x="0" y="0"/>
            <a:chExt cx="215825" cy="900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825" cy="90044"/>
            </a:xfrm>
            <a:custGeom>
              <a:avLst/>
              <a:gdLst/>
              <a:ahLst/>
              <a:cxnLst/>
              <a:rect r="r" b="b" t="t" l="l"/>
              <a:pathLst>
                <a:path h="90044" w="215825">
                  <a:moveTo>
                    <a:pt x="0" y="0"/>
                  </a:moveTo>
                  <a:lnTo>
                    <a:pt x="215825" y="0"/>
                  </a:lnTo>
                  <a:lnTo>
                    <a:pt x="215825" y="90044"/>
                  </a:lnTo>
                  <a:lnTo>
                    <a:pt x="0" y="90044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5825" cy="137669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230932" y="5085602"/>
            <a:ext cx="3763161" cy="2805265"/>
          </a:xfrm>
          <a:custGeom>
            <a:avLst/>
            <a:gdLst/>
            <a:ahLst/>
            <a:cxnLst/>
            <a:rect r="r" b="b" t="t" l="l"/>
            <a:pathLst>
              <a:path h="2805265" w="3763161">
                <a:moveTo>
                  <a:pt x="0" y="0"/>
                </a:moveTo>
                <a:lnTo>
                  <a:pt x="3763161" y="0"/>
                </a:lnTo>
                <a:lnTo>
                  <a:pt x="3763161" y="2805265"/>
                </a:lnTo>
                <a:lnTo>
                  <a:pt x="0" y="2805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610561" y="7326158"/>
            <a:ext cx="848752" cy="429985"/>
            <a:chOff x="0" y="0"/>
            <a:chExt cx="215825" cy="1093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825" cy="109339"/>
            </a:xfrm>
            <a:custGeom>
              <a:avLst/>
              <a:gdLst/>
              <a:ahLst/>
              <a:cxnLst/>
              <a:rect r="r" b="b" t="t" l="l"/>
              <a:pathLst>
                <a:path h="109339" w="215825">
                  <a:moveTo>
                    <a:pt x="0" y="0"/>
                  </a:moveTo>
                  <a:lnTo>
                    <a:pt x="215825" y="0"/>
                  </a:lnTo>
                  <a:lnTo>
                    <a:pt x="215825" y="109339"/>
                  </a:lnTo>
                  <a:lnTo>
                    <a:pt x="0" y="109339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5825" cy="156964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11557547" y="5501228"/>
            <a:ext cx="1876043" cy="1810959"/>
          </a:xfrm>
          <a:prstGeom prst="line">
            <a:avLst/>
          </a:prstGeom>
          <a:ln cap="flat" w="38100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5524969" y="5228820"/>
            <a:ext cx="1358226" cy="354106"/>
            <a:chOff x="0" y="0"/>
            <a:chExt cx="345376" cy="900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5376" cy="90044"/>
            </a:xfrm>
            <a:custGeom>
              <a:avLst/>
              <a:gdLst/>
              <a:ahLst/>
              <a:cxnLst/>
              <a:rect r="r" b="b" t="t" l="l"/>
              <a:pathLst>
                <a:path h="90044" w="345376">
                  <a:moveTo>
                    <a:pt x="0" y="0"/>
                  </a:moveTo>
                  <a:lnTo>
                    <a:pt x="345376" y="0"/>
                  </a:lnTo>
                  <a:lnTo>
                    <a:pt x="345376" y="90044"/>
                  </a:lnTo>
                  <a:lnTo>
                    <a:pt x="0" y="90044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45376" cy="137669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47825" y="6449701"/>
            <a:ext cx="3305430" cy="2655905"/>
            <a:chOff x="0" y="0"/>
            <a:chExt cx="840520" cy="6753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0520" cy="675356"/>
            </a:xfrm>
            <a:custGeom>
              <a:avLst/>
              <a:gdLst/>
              <a:ahLst/>
              <a:cxnLst/>
              <a:rect r="r" b="b" t="t" l="l"/>
              <a:pathLst>
                <a:path h="675356" w="840520">
                  <a:moveTo>
                    <a:pt x="0" y="0"/>
                  </a:moveTo>
                  <a:lnTo>
                    <a:pt x="840520" y="0"/>
                  </a:lnTo>
                  <a:lnTo>
                    <a:pt x="840520" y="675356"/>
                  </a:lnTo>
                  <a:lnTo>
                    <a:pt x="0" y="675356"/>
                  </a:lnTo>
                  <a:close/>
                </a:path>
              </a:pathLst>
            </a:custGeom>
            <a:ln w="47625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40520" cy="722981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122314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 전처리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7750" y="3316421"/>
            <a:ext cx="7577620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SGIS 대화형 통계지도 → 나의데이터 → 업로드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45232" y="3230696"/>
            <a:ext cx="7862337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[나의데이터를 POI로 표출하기] → [주소 필드 선택] </a:t>
            </a: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    → </a:t>
            </a:r>
            <a:r>
              <a:rPr lang="en-US" sz="2799" b="true">
                <a:solidFill>
                  <a:srgbClr val="122B6B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제주도_공유업무시설_현황.shp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파일 다운로드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30657" y="2487746"/>
            <a:ext cx="11397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6072A1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공유업무시설 현황 데이터 · 숙박시설 현황 데이터, 지오코딩을 통한 좌표화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161" y="3767371"/>
            <a:ext cx="4342298" cy="5076791"/>
            <a:chOff x="0" y="0"/>
            <a:chExt cx="1212146" cy="14170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2146" cy="1417086"/>
            </a:xfrm>
            <a:custGeom>
              <a:avLst/>
              <a:gdLst/>
              <a:ahLst/>
              <a:cxnLst/>
              <a:rect r="r" b="b" t="t" l="l"/>
              <a:pathLst>
                <a:path h="1417086" w="1212146">
                  <a:moveTo>
                    <a:pt x="1212146" y="0"/>
                  </a:moveTo>
                  <a:lnTo>
                    <a:pt x="1212146" y="1417086"/>
                  </a:lnTo>
                  <a:lnTo>
                    <a:pt x="0" y="1417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12146" cy="1464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28270" y="3767371"/>
            <a:ext cx="4342298" cy="5076791"/>
            <a:chOff x="0" y="0"/>
            <a:chExt cx="1212146" cy="14170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2146" cy="1417086"/>
            </a:xfrm>
            <a:custGeom>
              <a:avLst/>
              <a:gdLst/>
              <a:ahLst/>
              <a:cxnLst/>
              <a:rect r="r" b="b" t="t" l="l"/>
              <a:pathLst>
                <a:path h="1417086" w="1212146">
                  <a:moveTo>
                    <a:pt x="1212146" y="0"/>
                  </a:moveTo>
                  <a:lnTo>
                    <a:pt x="1212146" y="1417086"/>
                  </a:lnTo>
                  <a:lnTo>
                    <a:pt x="0" y="1417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12146" cy="1464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89793" y="3767371"/>
            <a:ext cx="4342298" cy="5076791"/>
            <a:chOff x="0" y="0"/>
            <a:chExt cx="1212146" cy="14170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2146" cy="1417086"/>
            </a:xfrm>
            <a:custGeom>
              <a:avLst/>
              <a:gdLst/>
              <a:ahLst/>
              <a:cxnLst/>
              <a:rect r="r" b="b" t="t" l="l"/>
              <a:pathLst>
                <a:path h="1417086" w="1212146">
                  <a:moveTo>
                    <a:pt x="1212146" y="0"/>
                  </a:moveTo>
                  <a:lnTo>
                    <a:pt x="1212146" y="1417086"/>
                  </a:lnTo>
                  <a:lnTo>
                    <a:pt x="0" y="1417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12146" cy="1464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803541" y="3767371"/>
            <a:ext cx="4342298" cy="5076791"/>
            <a:chOff x="0" y="0"/>
            <a:chExt cx="1212146" cy="14170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2146" cy="1417086"/>
            </a:xfrm>
            <a:custGeom>
              <a:avLst/>
              <a:gdLst/>
              <a:ahLst/>
              <a:cxnLst/>
              <a:rect r="r" b="b" t="t" l="l"/>
              <a:pathLst>
                <a:path h="1417086" w="1212146">
                  <a:moveTo>
                    <a:pt x="1212146" y="0"/>
                  </a:moveTo>
                  <a:lnTo>
                    <a:pt x="1212146" y="1417086"/>
                  </a:lnTo>
                  <a:lnTo>
                    <a:pt x="0" y="1417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12146" cy="1464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865034" y="5048057"/>
            <a:ext cx="4068770" cy="2447881"/>
          </a:xfrm>
          <a:custGeom>
            <a:avLst/>
            <a:gdLst/>
            <a:ahLst/>
            <a:cxnLst/>
            <a:rect r="r" b="b" t="t" l="l"/>
            <a:pathLst>
              <a:path h="2447881" w="4068770">
                <a:moveTo>
                  <a:pt x="0" y="0"/>
                </a:moveTo>
                <a:lnTo>
                  <a:pt x="4068771" y="0"/>
                </a:lnTo>
                <a:lnTo>
                  <a:pt x="4068771" y="2447881"/>
                </a:lnTo>
                <a:lnTo>
                  <a:pt x="0" y="2447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8" t="0" r="-4195" b="-8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7617" y="5048057"/>
            <a:ext cx="4091385" cy="2460112"/>
          </a:xfrm>
          <a:custGeom>
            <a:avLst/>
            <a:gdLst/>
            <a:ahLst/>
            <a:cxnLst/>
            <a:rect r="r" b="b" t="t" l="l"/>
            <a:pathLst>
              <a:path h="2460112" w="4091385">
                <a:moveTo>
                  <a:pt x="0" y="0"/>
                </a:moveTo>
                <a:lnTo>
                  <a:pt x="4091385" y="0"/>
                </a:lnTo>
                <a:lnTo>
                  <a:pt x="4091385" y="2460112"/>
                </a:lnTo>
                <a:lnTo>
                  <a:pt x="0" y="2460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58" t="0" r="-1376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49795" y="5048057"/>
            <a:ext cx="4022295" cy="2473531"/>
          </a:xfrm>
          <a:custGeom>
            <a:avLst/>
            <a:gdLst/>
            <a:ahLst/>
            <a:cxnLst/>
            <a:rect r="r" b="b" t="t" l="l"/>
            <a:pathLst>
              <a:path h="2473531" w="4022295">
                <a:moveTo>
                  <a:pt x="0" y="0"/>
                </a:moveTo>
                <a:lnTo>
                  <a:pt x="4022295" y="0"/>
                </a:lnTo>
                <a:lnTo>
                  <a:pt x="4022295" y="2473530"/>
                </a:lnTo>
                <a:lnTo>
                  <a:pt x="0" y="2473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33" t="0" r="-4133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08824" y="5048057"/>
            <a:ext cx="4131732" cy="2473531"/>
          </a:xfrm>
          <a:custGeom>
            <a:avLst/>
            <a:gdLst/>
            <a:ahLst/>
            <a:cxnLst/>
            <a:rect r="r" b="b" t="t" l="l"/>
            <a:pathLst>
              <a:path h="2473531" w="4131732">
                <a:moveTo>
                  <a:pt x="0" y="0"/>
                </a:moveTo>
                <a:lnTo>
                  <a:pt x="4131733" y="0"/>
                </a:lnTo>
                <a:lnTo>
                  <a:pt x="4131733" y="2473530"/>
                </a:lnTo>
                <a:lnTo>
                  <a:pt x="0" y="2473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682671" y="1319719"/>
            <a:ext cx="8922657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Openrouteservice(ORS) 소개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5054" y="3906583"/>
            <a:ext cx="3956512" cy="8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Directions</a:t>
            </a:r>
          </a:p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6072A1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(경로 안내)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21050" y="3906583"/>
            <a:ext cx="3556739" cy="8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Isochrones</a:t>
            </a:r>
          </a:p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6072A1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(도달 가능 영역)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9796" y="3906583"/>
            <a:ext cx="3949519" cy="8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Time-Distance Matrix</a:t>
            </a:r>
          </a:p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6072A1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(시간-거리 행렬)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91169" y="3957230"/>
            <a:ext cx="3949519" cy="8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2"/>
              </a:lnSpc>
            </a:pPr>
            <a:r>
              <a:rPr lang="en-US" sz="301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Optimization</a:t>
            </a:r>
          </a:p>
          <a:p>
            <a:pPr algn="ctr">
              <a:lnSpc>
                <a:spcPts val="2874"/>
              </a:lnSpc>
            </a:pPr>
            <a:r>
              <a:rPr lang="en-US" sz="2499" b="true">
                <a:solidFill>
                  <a:srgbClr val="6072A1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(경로 최적화)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45370" y="2487746"/>
            <a:ext cx="11397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6072A1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OpenStreetMap(OSM) 데이터를 기반으로 하는 오픈소스 공간분석 서비스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6001" y="7969262"/>
            <a:ext cx="394556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출발지와 목적지 사이의 경로와 이동 정보를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제공한다.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26637" y="7969262"/>
            <a:ext cx="394556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일정 시간 또는 거리 내에 이동 가능한 영역을 계산한다.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88160" y="7969262"/>
            <a:ext cx="394556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여러</a:t>
            </a: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지점 간의 이동 시간과 거리를 한 번에 계산한다.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01908" y="7969262"/>
            <a:ext cx="394556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여러 차량과 목적지를 고려해 가장 효율적인 배송·방문 경로를 생성한다.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07116" y="9753104"/>
            <a:ext cx="45964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* 사진 출처 :  https://openrouteservice.org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3341" y="3344996"/>
            <a:ext cx="8084911" cy="6058697"/>
            <a:chOff x="0" y="0"/>
            <a:chExt cx="2256892" cy="1691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6892" cy="1691166"/>
            </a:xfrm>
            <a:custGeom>
              <a:avLst/>
              <a:gdLst/>
              <a:ahLst/>
              <a:cxnLst/>
              <a:rect r="r" b="b" t="t" l="l"/>
              <a:pathLst>
                <a:path h="1691166" w="2256892">
                  <a:moveTo>
                    <a:pt x="2256892" y="0"/>
                  </a:moveTo>
                  <a:lnTo>
                    <a:pt x="2256892" y="1691166"/>
                  </a:lnTo>
                  <a:lnTo>
                    <a:pt x="0" y="1691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56892" cy="1738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62063" y="3344996"/>
            <a:ext cx="8260076" cy="6058697"/>
            <a:chOff x="0" y="0"/>
            <a:chExt cx="2305789" cy="16911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05789" cy="1691166"/>
            </a:xfrm>
            <a:custGeom>
              <a:avLst/>
              <a:gdLst/>
              <a:ahLst/>
              <a:cxnLst/>
              <a:rect r="r" b="b" t="t" l="l"/>
              <a:pathLst>
                <a:path h="1691166" w="2305789">
                  <a:moveTo>
                    <a:pt x="2305789" y="0"/>
                  </a:moveTo>
                  <a:lnTo>
                    <a:pt x="2305789" y="1691166"/>
                  </a:lnTo>
                  <a:lnTo>
                    <a:pt x="0" y="1691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305789" cy="1738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6114" y="4414075"/>
            <a:ext cx="7656923" cy="4771339"/>
          </a:xfrm>
          <a:custGeom>
            <a:avLst/>
            <a:gdLst/>
            <a:ahLst/>
            <a:cxnLst/>
            <a:rect r="r" b="b" t="t" l="l"/>
            <a:pathLst>
              <a:path h="4771339" w="7656923">
                <a:moveTo>
                  <a:pt x="0" y="0"/>
                </a:moveTo>
                <a:lnTo>
                  <a:pt x="7656923" y="0"/>
                </a:lnTo>
                <a:lnTo>
                  <a:pt x="7656923" y="4771339"/>
                </a:lnTo>
                <a:lnTo>
                  <a:pt x="0" y="477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77" t="0" r="0" b="-17713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003916" y="4423600"/>
            <a:ext cx="460373" cy="460373"/>
          </a:xfrm>
          <a:custGeom>
            <a:avLst/>
            <a:gdLst/>
            <a:ahLst/>
            <a:cxnLst/>
            <a:rect r="r" b="b" t="t" l="l"/>
            <a:pathLst>
              <a:path h="460373" w="460373">
                <a:moveTo>
                  <a:pt x="0" y="0"/>
                </a:moveTo>
                <a:lnTo>
                  <a:pt x="460373" y="0"/>
                </a:lnTo>
                <a:lnTo>
                  <a:pt x="460373" y="460373"/>
                </a:lnTo>
                <a:lnTo>
                  <a:pt x="0" y="460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19745" y="4439421"/>
            <a:ext cx="7731907" cy="525355"/>
          </a:xfrm>
          <a:custGeom>
            <a:avLst/>
            <a:gdLst/>
            <a:ahLst/>
            <a:cxnLst/>
            <a:rect r="r" b="b" t="t" l="l"/>
            <a:pathLst>
              <a:path h="525355" w="7731907">
                <a:moveTo>
                  <a:pt x="0" y="0"/>
                </a:moveTo>
                <a:lnTo>
                  <a:pt x="7731908" y="0"/>
                </a:lnTo>
                <a:lnTo>
                  <a:pt x="7731908" y="525355"/>
                </a:lnTo>
                <a:lnTo>
                  <a:pt x="0" y="5253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130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643655" y="4462387"/>
            <a:ext cx="460373" cy="460373"/>
          </a:xfrm>
          <a:custGeom>
            <a:avLst/>
            <a:gdLst/>
            <a:ahLst/>
            <a:cxnLst/>
            <a:rect r="r" b="b" t="t" l="l"/>
            <a:pathLst>
              <a:path h="460373" w="460373">
                <a:moveTo>
                  <a:pt x="0" y="0"/>
                </a:moveTo>
                <a:lnTo>
                  <a:pt x="460373" y="0"/>
                </a:lnTo>
                <a:lnTo>
                  <a:pt x="460373" y="460373"/>
                </a:lnTo>
                <a:lnTo>
                  <a:pt x="0" y="460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19745" y="5261471"/>
            <a:ext cx="7731907" cy="3923943"/>
          </a:xfrm>
          <a:custGeom>
            <a:avLst/>
            <a:gdLst/>
            <a:ahLst/>
            <a:cxnLst/>
            <a:rect r="r" b="b" t="t" l="l"/>
            <a:pathLst>
              <a:path h="3923943" w="7731907">
                <a:moveTo>
                  <a:pt x="0" y="0"/>
                </a:moveTo>
                <a:lnTo>
                  <a:pt x="7731908" y="0"/>
                </a:lnTo>
                <a:lnTo>
                  <a:pt x="7731908" y="3923943"/>
                </a:lnTo>
                <a:lnTo>
                  <a:pt x="0" y="3923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3160241" y="1316444"/>
            <a:ext cx="11967517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Openrouteservice(ORS) API 등록방법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8834" y="3613853"/>
            <a:ext cx="1710277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회원가입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75996" y="3613853"/>
            <a:ext cx="1785254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2.Key 발급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7116" y="9753104"/>
            <a:ext cx="45964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-4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* 사진 출처 :  https://openrouteservice.org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30657" y="2487746"/>
            <a:ext cx="11397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6072A1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OpenStreetMap(OSM) 데이터를 기반으로 하는 오픈소스 공간분석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27686" y="3715960"/>
            <a:ext cx="601890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Openrouteservice(ORS) 홈페이지에 들어가서 회원가입(로그인)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18874" y="5896929"/>
            <a:ext cx="2322975" cy="419146"/>
            <a:chOff x="0" y="0"/>
            <a:chExt cx="590697" cy="1065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0697" cy="106582"/>
            </a:xfrm>
            <a:custGeom>
              <a:avLst/>
              <a:gdLst/>
              <a:ahLst/>
              <a:cxnLst/>
              <a:rect r="r" b="b" t="t" l="l"/>
              <a:pathLst>
                <a:path h="106582" w="590697">
                  <a:moveTo>
                    <a:pt x="0" y="0"/>
                  </a:moveTo>
                  <a:lnTo>
                    <a:pt x="590697" y="0"/>
                  </a:lnTo>
                  <a:lnTo>
                    <a:pt x="590697" y="106582"/>
                  </a:lnTo>
                  <a:lnTo>
                    <a:pt x="0" y="106582"/>
                  </a:lnTo>
                  <a:close/>
                </a:path>
              </a:pathLst>
            </a:custGeom>
            <a:ln w="76200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90697" cy="154207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233766" y="3715960"/>
            <a:ext cx="600226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로그인하고 프로필 버튼 클릭 후, 자동으로 발급된 Key 확인 및 복사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5251" y="4263813"/>
            <a:ext cx="6199778" cy="5387681"/>
            <a:chOff x="0" y="0"/>
            <a:chExt cx="8266371" cy="7183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66371" cy="7183575"/>
            </a:xfrm>
            <a:custGeom>
              <a:avLst/>
              <a:gdLst/>
              <a:ahLst/>
              <a:cxnLst/>
              <a:rect r="r" b="b" t="t" l="l"/>
              <a:pathLst>
                <a:path h="7183575" w="8266371">
                  <a:moveTo>
                    <a:pt x="0" y="0"/>
                  </a:moveTo>
                  <a:lnTo>
                    <a:pt x="8266371" y="0"/>
                  </a:lnTo>
                  <a:lnTo>
                    <a:pt x="8266371" y="7183575"/>
                  </a:lnTo>
                  <a:lnTo>
                    <a:pt x="0" y="7183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6711398" y="6647139"/>
              <a:ext cx="1554973" cy="310547"/>
              <a:chOff x="0" y="0"/>
              <a:chExt cx="274806" cy="5488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4806" cy="54882"/>
              </a:xfrm>
              <a:custGeom>
                <a:avLst/>
                <a:gdLst/>
                <a:ahLst/>
                <a:cxnLst/>
                <a:rect r="r" b="b" t="t" l="l"/>
                <a:pathLst>
                  <a:path h="54882" w="274806">
                    <a:moveTo>
                      <a:pt x="0" y="0"/>
                    </a:moveTo>
                    <a:lnTo>
                      <a:pt x="274806" y="0"/>
                    </a:lnTo>
                    <a:lnTo>
                      <a:pt x="274806" y="54882"/>
                    </a:lnTo>
                    <a:lnTo>
                      <a:pt x="0" y="54882"/>
                    </a:lnTo>
                    <a:close/>
                  </a:path>
                </a:pathLst>
              </a:custGeom>
              <a:ln w="38100" cap="sq">
                <a:solidFill>
                  <a:srgbClr val="DD2E44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74806" cy="102507"/>
              </a:xfrm>
              <a:prstGeom prst="rect">
                <a:avLst/>
              </a:prstGeom>
            </p:spPr>
            <p:txBody>
              <a:bodyPr anchor="ctr" rtlCol="false" tIns="52616" lIns="52616" bIns="52616" rIns="52616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3445370" y="2487746"/>
            <a:ext cx="113972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6072A1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OpenStreetMap(OSM) 데이터를 기반으로 하는 오픈소스 공간분석 서비스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50984" y="3613853"/>
            <a:ext cx="7126413" cy="417830"/>
            <a:chOff x="0" y="0"/>
            <a:chExt cx="9501883" cy="55710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4171251" cy="557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3.ORS Tools 설치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702467" y="92624"/>
              <a:ext cx="5799416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[플러그인] &gt; [플러그인 관리 및 설치]에서 검색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75996" y="3613853"/>
            <a:ext cx="7902970" cy="417830"/>
            <a:chOff x="0" y="0"/>
            <a:chExt cx="10537293" cy="55710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3332386" cy="557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4.Key 붙여넣기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142316" y="130724"/>
              <a:ext cx="7394977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[웹] &gt; [ORS Tools] &gt; [Provider Settings] &gt; API Key 입력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15967" y="4263813"/>
            <a:ext cx="7023028" cy="5387681"/>
            <a:chOff x="0" y="0"/>
            <a:chExt cx="9364037" cy="7183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64037" cy="7183575"/>
            </a:xfrm>
            <a:custGeom>
              <a:avLst/>
              <a:gdLst/>
              <a:ahLst/>
              <a:cxnLst/>
              <a:rect r="r" b="b" t="t" l="l"/>
              <a:pathLst>
                <a:path h="7183575" w="9364037">
                  <a:moveTo>
                    <a:pt x="0" y="0"/>
                  </a:moveTo>
                  <a:lnTo>
                    <a:pt x="9364037" y="0"/>
                  </a:lnTo>
                  <a:lnTo>
                    <a:pt x="9364037" y="7183575"/>
                  </a:lnTo>
                  <a:lnTo>
                    <a:pt x="0" y="7183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791245" y="2236112"/>
              <a:ext cx="7660161" cy="372014"/>
              <a:chOff x="0" y="0"/>
              <a:chExt cx="1321242" cy="6416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21242" cy="64166"/>
              </a:xfrm>
              <a:custGeom>
                <a:avLst/>
                <a:gdLst/>
                <a:ahLst/>
                <a:cxnLst/>
                <a:rect r="r" b="b" t="t" l="l"/>
                <a:pathLst>
                  <a:path h="64166" w="1321242">
                    <a:moveTo>
                      <a:pt x="0" y="0"/>
                    </a:moveTo>
                    <a:lnTo>
                      <a:pt x="1321242" y="0"/>
                    </a:lnTo>
                    <a:lnTo>
                      <a:pt x="1321242" y="64166"/>
                    </a:lnTo>
                    <a:lnTo>
                      <a:pt x="0" y="64166"/>
                    </a:lnTo>
                    <a:close/>
                  </a:path>
                </a:pathLst>
              </a:custGeom>
              <a:solidFill>
                <a:srgbClr val="000000"/>
              </a:solid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321242" cy="111791"/>
              </a:xfrm>
              <a:prstGeom prst="rect">
                <a:avLst/>
              </a:prstGeom>
            </p:spPr>
            <p:txBody>
              <a:bodyPr anchor="ctr" rtlCol="false" tIns="52616" lIns="52616" bIns="52616" rIns="52616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542195" y="1590570"/>
              <a:ext cx="8190776" cy="1230158"/>
              <a:chOff x="0" y="0"/>
              <a:chExt cx="1280674" cy="19234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80674" cy="192342"/>
              </a:xfrm>
              <a:custGeom>
                <a:avLst/>
                <a:gdLst/>
                <a:ahLst/>
                <a:cxnLst/>
                <a:rect r="r" b="b" t="t" l="l"/>
                <a:pathLst>
                  <a:path h="192342" w="1280674">
                    <a:moveTo>
                      <a:pt x="0" y="0"/>
                    </a:moveTo>
                    <a:lnTo>
                      <a:pt x="1280674" y="0"/>
                    </a:lnTo>
                    <a:lnTo>
                      <a:pt x="1280674" y="192342"/>
                    </a:lnTo>
                    <a:lnTo>
                      <a:pt x="0" y="192342"/>
                    </a:lnTo>
                    <a:close/>
                  </a:path>
                </a:pathLst>
              </a:custGeom>
              <a:ln w="57150" cap="sq">
                <a:solidFill>
                  <a:srgbClr val="DD2E4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280674" cy="239967"/>
              </a:xfrm>
              <a:prstGeom prst="rect">
                <a:avLst/>
              </a:prstGeom>
            </p:spPr>
            <p:txBody>
              <a:bodyPr anchor="ctr" rtlCol="false" tIns="58043" lIns="58043" bIns="58043" rIns="58043"/>
              <a:lstStyle/>
              <a:p>
                <a:pPr algn="ctr" marL="0" indent="0" lvl="0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5" id="25"/>
          <p:cNvSpPr txBox="true"/>
          <p:nvPr/>
        </p:nvSpPr>
        <p:spPr>
          <a:xfrm rot="0">
            <a:off x="3160241" y="1316444"/>
            <a:ext cx="11967517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Openrouteservice(ORS) API 등록방법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0132" y="4273618"/>
            <a:ext cx="7913820" cy="5279539"/>
          </a:xfrm>
          <a:custGeom>
            <a:avLst/>
            <a:gdLst/>
            <a:ahLst/>
            <a:cxnLst/>
            <a:rect r="r" b="b" t="t" l="l"/>
            <a:pathLst>
              <a:path h="5279539" w="7913820">
                <a:moveTo>
                  <a:pt x="0" y="0"/>
                </a:moveTo>
                <a:lnTo>
                  <a:pt x="7913820" y="0"/>
                </a:lnTo>
                <a:lnTo>
                  <a:pt x="7913820" y="5279539"/>
                </a:lnTo>
                <a:lnTo>
                  <a:pt x="0" y="5279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251393"/>
            <a:ext cx="7744519" cy="5301764"/>
          </a:xfrm>
          <a:custGeom>
            <a:avLst/>
            <a:gdLst/>
            <a:ahLst/>
            <a:cxnLst/>
            <a:rect r="r" b="b" t="t" l="l"/>
            <a:pathLst>
              <a:path h="5301764" w="7744519">
                <a:moveTo>
                  <a:pt x="0" y="0"/>
                </a:moveTo>
                <a:lnTo>
                  <a:pt x="7744519" y="0"/>
                </a:lnTo>
                <a:lnTo>
                  <a:pt x="7744519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3327468"/>
            <a:ext cx="75731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[벡터] &gt; [Data Management] &gt; [벡터 레이어 병합] &gt;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gird_나나_1K, gird_나다_1K, gird_다나_1K, gird_다다_1K 를 병합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25488"/>
            <a:ext cx="9913764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1. 격자 경계 데이터 병합하기 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(gird_나나_나다_다나_다다_1k.gpkg)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0132" y="3403668"/>
            <a:ext cx="7771530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병합한 산출물을 GeoPackage로 저장 (grid_나나_나다_다나_다다_1K.gpkg)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251393"/>
            <a:ext cx="7776654" cy="5301764"/>
          </a:xfrm>
          <a:custGeom>
            <a:avLst/>
            <a:gdLst/>
            <a:ahLst/>
            <a:cxnLst/>
            <a:rect r="r" b="b" t="t" l="l"/>
            <a:pathLst>
              <a:path h="5301764" w="7776654">
                <a:moveTo>
                  <a:pt x="0" y="0"/>
                </a:moveTo>
                <a:lnTo>
                  <a:pt x="7776654" y="0"/>
                </a:lnTo>
                <a:lnTo>
                  <a:pt x="7776654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90132" y="4251393"/>
            <a:ext cx="7552792" cy="5301764"/>
          </a:xfrm>
          <a:custGeom>
            <a:avLst/>
            <a:gdLst/>
            <a:ahLst/>
            <a:cxnLst/>
            <a:rect r="r" b="b" t="t" l="l"/>
            <a:pathLst>
              <a:path h="5301764" w="7552792">
                <a:moveTo>
                  <a:pt x="0" y="0"/>
                </a:moveTo>
                <a:lnTo>
                  <a:pt x="7552792" y="0"/>
                </a:lnTo>
                <a:lnTo>
                  <a:pt x="7552792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725488"/>
            <a:ext cx="15474871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 병합한 격자경계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(grid_나나_나다_다나_다다_1K.gpkg)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에서 제주도에 해당하는 격자 추출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27468"/>
            <a:ext cx="78921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[벡터] &gt; [Research Tools] &gt; [위치로 선택] &gt; bnd_sido_39_2025_2Q.shp에 교차하는 grid_나나_나다_다나_다다_1K.gpkg 선택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0132" y="3336993"/>
            <a:ext cx="661703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grid_나나_나다_다나_다다_1K.gpkg 레이어 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[내보내기] &gt; [선택한 피처를 다른 이름으로 저장] &gt; gird_제주도_1K.gpkg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251393"/>
            <a:ext cx="7771530" cy="5301764"/>
          </a:xfrm>
          <a:custGeom>
            <a:avLst/>
            <a:gdLst/>
            <a:ahLst/>
            <a:cxnLst/>
            <a:rect r="r" b="b" t="t" l="l"/>
            <a:pathLst>
              <a:path h="5301764" w="7771530">
                <a:moveTo>
                  <a:pt x="0" y="0"/>
                </a:moveTo>
                <a:lnTo>
                  <a:pt x="7771530" y="0"/>
                </a:lnTo>
                <a:lnTo>
                  <a:pt x="7771530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90132" y="4251393"/>
            <a:ext cx="7760553" cy="5301764"/>
          </a:xfrm>
          <a:custGeom>
            <a:avLst/>
            <a:gdLst/>
            <a:ahLst/>
            <a:cxnLst/>
            <a:rect r="r" b="b" t="t" l="l"/>
            <a:pathLst>
              <a:path h="5301764" w="7760553">
                <a:moveTo>
                  <a:pt x="0" y="0"/>
                </a:moveTo>
                <a:lnTo>
                  <a:pt x="7760553" y="0"/>
                </a:lnTo>
                <a:lnTo>
                  <a:pt x="7760553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725488"/>
            <a:ext cx="10262181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3. 제주도 숙박시설 현황 데이터 하나로 병합하기 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(제주도_총_숙박.gpkg)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27468"/>
            <a:ext cx="75731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[벡터] &gt; [Data Management] &gt; [벡터 레이어 병합] &gt;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제주도_농어촌 외 숙박, 제주도_농어촌민박 1, 제주도_농어촌민박 2 를 병합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0132" y="3336993"/>
            <a:ext cx="661703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병합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산출물을 GeoPackage로 저장 (제주도_총_숙박.gpkg)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251393"/>
            <a:ext cx="7579092" cy="5301764"/>
          </a:xfrm>
          <a:custGeom>
            <a:avLst/>
            <a:gdLst/>
            <a:ahLst/>
            <a:cxnLst/>
            <a:rect r="r" b="b" t="t" l="l"/>
            <a:pathLst>
              <a:path h="5301764" w="7579092">
                <a:moveTo>
                  <a:pt x="0" y="0"/>
                </a:moveTo>
                <a:lnTo>
                  <a:pt x="7579092" y="0"/>
                </a:lnTo>
                <a:lnTo>
                  <a:pt x="7579092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590132" y="4279968"/>
            <a:ext cx="7711434" cy="5273189"/>
          </a:xfrm>
          <a:custGeom>
            <a:avLst/>
            <a:gdLst/>
            <a:ahLst/>
            <a:cxnLst/>
            <a:rect r="r" b="b" t="t" l="l"/>
            <a:pathLst>
              <a:path h="5273189" w="7711434">
                <a:moveTo>
                  <a:pt x="0" y="0"/>
                </a:moveTo>
                <a:lnTo>
                  <a:pt x="7711434" y="0"/>
                </a:lnTo>
                <a:lnTo>
                  <a:pt x="7711434" y="5273189"/>
                </a:lnTo>
                <a:lnTo>
                  <a:pt x="0" y="5273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725488"/>
            <a:ext cx="8408499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4. 제주도 숙박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(제주도_총_숙박.gpkg)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 ‘객실수’ 열 정수화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27468"/>
            <a:ext cx="75731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제주도_총_숙박.gpkg 레이어의 [속성 테이블 열기] &gt; [필드 계산기] &gt; 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‘객실수’ 열을 표현식에 작성하고, 정수형 컬럼명을 ‘객실수_int’로 저장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90132" y="3336993"/>
            <a:ext cx="661703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정수형 컬럼명 ‘객실수_int’ 열의 값 확인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251393"/>
            <a:ext cx="6716146" cy="5301764"/>
          </a:xfrm>
          <a:custGeom>
            <a:avLst/>
            <a:gdLst/>
            <a:ahLst/>
            <a:cxnLst/>
            <a:rect r="r" b="b" t="t" l="l"/>
            <a:pathLst>
              <a:path h="5301764" w="6716146">
                <a:moveTo>
                  <a:pt x="0" y="0"/>
                </a:moveTo>
                <a:lnTo>
                  <a:pt x="6716146" y="0"/>
                </a:lnTo>
                <a:lnTo>
                  <a:pt x="6716146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953763" y="4754935"/>
            <a:ext cx="4720581" cy="4798222"/>
          </a:xfrm>
          <a:custGeom>
            <a:avLst/>
            <a:gdLst/>
            <a:ahLst/>
            <a:cxnLst/>
            <a:rect r="r" b="b" t="t" l="l"/>
            <a:pathLst>
              <a:path h="4798222" w="4720581">
                <a:moveTo>
                  <a:pt x="0" y="0"/>
                </a:moveTo>
                <a:lnTo>
                  <a:pt x="4720581" y="0"/>
                </a:lnTo>
                <a:lnTo>
                  <a:pt x="4720581" y="4798222"/>
                </a:lnTo>
                <a:lnTo>
                  <a:pt x="0" y="4798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4770180" y="7290108"/>
            <a:ext cx="419444" cy="308996"/>
            <a:chOff x="0" y="0"/>
            <a:chExt cx="106658" cy="785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58" cy="78573"/>
            </a:xfrm>
            <a:custGeom>
              <a:avLst/>
              <a:gdLst/>
              <a:ahLst/>
              <a:cxnLst/>
              <a:rect r="r" b="b" t="t" l="l"/>
              <a:pathLst>
                <a:path h="78573" w="106658">
                  <a:moveTo>
                    <a:pt x="0" y="0"/>
                  </a:moveTo>
                  <a:lnTo>
                    <a:pt x="106658" y="0"/>
                  </a:lnTo>
                  <a:lnTo>
                    <a:pt x="106658" y="78573"/>
                  </a:lnTo>
                  <a:lnTo>
                    <a:pt x="0" y="78573"/>
                  </a:lnTo>
                  <a:close/>
                </a:path>
              </a:pathLst>
            </a:custGeom>
            <a:ln w="38100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658" cy="126198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70180" y="7684975"/>
            <a:ext cx="419444" cy="308996"/>
            <a:chOff x="0" y="0"/>
            <a:chExt cx="106658" cy="785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58" cy="78573"/>
            </a:xfrm>
            <a:custGeom>
              <a:avLst/>
              <a:gdLst/>
              <a:ahLst/>
              <a:cxnLst/>
              <a:rect r="r" b="b" t="t" l="l"/>
              <a:pathLst>
                <a:path h="78573" w="106658">
                  <a:moveTo>
                    <a:pt x="0" y="0"/>
                  </a:moveTo>
                  <a:lnTo>
                    <a:pt x="106658" y="0"/>
                  </a:lnTo>
                  <a:lnTo>
                    <a:pt x="106658" y="78573"/>
                  </a:lnTo>
                  <a:lnTo>
                    <a:pt x="0" y="78573"/>
                  </a:lnTo>
                  <a:close/>
                </a:path>
              </a:pathLst>
            </a:custGeom>
            <a:ln w="38100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658" cy="126198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658214" y="7766363"/>
            <a:ext cx="219653" cy="218084"/>
          </a:xfrm>
          <a:custGeom>
            <a:avLst/>
            <a:gdLst/>
            <a:ahLst/>
            <a:cxnLst/>
            <a:rect r="r" b="b" t="t" l="l"/>
            <a:pathLst>
              <a:path h="218084" w="219653">
                <a:moveTo>
                  <a:pt x="0" y="0"/>
                </a:moveTo>
                <a:lnTo>
                  <a:pt x="219653" y="0"/>
                </a:lnTo>
                <a:lnTo>
                  <a:pt x="219653" y="218084"/>
                </a:lnTo>
                <a:lnTo>
                  <a:pt x="0" y="218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59" r="0" b="-35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58214" y="7335214"/>
            <a:ext cx="219653" cy="218084"/>
          </a:xfrm>
          <a:custGeom>
            <a:avLst/>
            <a:gdLst/>
            <a:ahLst/>
            <a:cxnLst/>
            <a:rect r="r" b="b" t="t" l="l"/>
            <a:pathLst>
              <a:path h="218084" w="219653">
                <a:moveTo>
                  <a:pt x="0" y="0"/>
                </a:moveTo>
                <a:lnTo>
                  <a:pt x="219653" y="0"/>
                </a:lnTo>
                <a:lnTo>
                  <a:pt x="219653" y="218084"/>
                </a:lnTo>
                <a:lnTo>
                  <a:pt x="0" y="218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59" r="0" b="-359"/>
            </a:stretch>
          </a:blipFill>
        </p:spPr>
      </p:sp>
      <p:sp>
        <p:nvSpPr>
          <p:cNvPr name="AutoShape 15" id="15"/>
          <p:cNvSpPr/>
          <p:nvPr/>
        </p:nvSpPr>
        <p:spPr>
          <a:xfrm flipV="true">
            <a:off x="5216322" y="7454131"/>
            <a:ext cx="382352" cy="0"/>
          </a:xfrm>
          <a:prstGeom prst="line">
            <a:avLst/>
          </a:prstGeom>
          <a:ln cap="flat" w="28575">
            <a:solidFill>
              <a:srgbClr val="DD2E44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5216322" y="7848998"/>
            <a:ext cx="382352" cy="0"/>
          </a:xfrm>
          <a:prstGeom prst="line">
            <a:avLst/>
          </a:prstGeom>
          <a:ln cap="flat" w="28575">
            <a:solidFill>
              <a:srgbClr val="DD2E44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2953763" y="4251393"/>
            <a:ext cx="334482" cy="332092"/>
            <a:chOff x="0" y="0"/>
            <a:chExt cx="445976" cy="4427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5976" cy="442789"/>
            </a:xfrm>
            <a:custGeom>
              <a:avLst/>
              <a:gdLst/>
              <a:ahLst/>
              <a:cxnLst/>
              <a:rect r="r" b="b" t="t" l="l"/>
              <a:pathLst>
                <a:path h="442789" w="445976">
                  <a:moveTo>
                    <a:pt x="0" y="0"/>
                  </a:moveTo>
                  <a:lnTo>
                    <a:pt x="445976" y="0"/>
                  </a:lnTo>
                  <a:lnTo>
                    <a:pt x="445976" y="442789"/>
                  </a:lnTo>
                  <a:lnTo>
                    <a:pt x="0" y="442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59" r="0" b="-3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20290" y="52196"/>
              <a:ext cx="205395" cy="35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3"/>
                </a:lnSpc>
              </a:pPr>
              <a:r>
                <a:rPr lang="en-US" b="true" sz="1828">
                  <a:solidFill>
                    <a:srgbClr val="DD2E4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35750" y="4251393"/>
            <a:ext cx="334482" cy="332092"/>
            <a:chOff x="0" y="0"/>
            <a:chExt cx="445976" cy="4427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5976" cy="442789"/>
            </a:xfrm>
            <a:custGeom>
              <a:avLst/>
              <a:gdLst/>
              <a:ahLst/>
              <a:cxnLst/>
              <a:rect r="r" b="b" t="t" l="l"/>
              <a:pathLst>
                <a:path h="442789" w="445976">
                  <a:moveTo>
                    <a:pt x="0" y="0"/>
                  </a:moveTo>
                  <a:lnTo>
                    <a:pt x="445976" y="0"/>
                  </a:lnTo>
                  <a:lnTo>
                    <a:pt x="445976" y="442789"/>
                  </a:lnTo>
                  <a:lnTo>
                    <a:pt x="0" y="442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59" r="0" b="-3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20290" y="52196"/>
              <a:ext cx="205395" cy="35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3"/>
                </a:lnSpc>
              </a:pPr>
              <a:r>
                <a:rPr lang="en-US" b="true" sz="1828">
                  <a:solidFill>
                    <a:srgbClr val="DD2E4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135750" y="4764307"/>
            <a:ext cx="4500367" cy="4774501"/>
          </a:xfrm>
          <a:custGeom>
            <a:avLst/>
            <a:gdLst/>
            <a:ahLst/>
            <a:cxnLst/>
            <a:rect r="r" b="b" t="t" l="l"/>
            <a:pathLst>
              <a:path h="4774501" w="4500367">
                <a:moveTo>
                  <a:pt x="0" y="0"/>
                </a:moveTo>
                <a:lnTo>
                  <a:pt x="4500367" y="0"/>
                </a:lnTo>
                <a:lnTo>
                  <a:pt x="4500367" y="4774502"/>
                </a:lnTo>
                <a:lnTo>
                  <a:pt x="0" y="4774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2725488"/>
            <a:ext cx="9433280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grid_제주도_1K.gpkg의 각 격자에 해당하는 객실수 합계 구하기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327468"/>
            <a:ext cx="75731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[공간 처리 툴박스] &gt; [위치에 따라 속성 결합 (요약)] 검색 &gt;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grid_제주도_1K.gpkg에 포함하는 제주도_총_숙박.gpkg 선택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17136" y="4268214"/>
            <a:ext cx="3573387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요약할 필드에서 “객실수_int” 선택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17460" y="7792070"/>
            <a:ext cx="101162" cy="17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"/>
              </a:lnSpc>
            </a:pPr>
            <a:r>
              <a:rPr lang="en-US" b="true" sz="1201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17460" y="7360922"/>
            <a:ext cx="101162" cy="17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"/>
              </a:lnSpc>
            </a:pPr>
            <a:r>
              <a:rPr lang="en-US" b="true" sz="1201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31120" y="4268214"/>
            <a:ext cx="3156117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계산할 요약에서 “sum” 선택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0132" y="4251393"/>
            <a:ext cx="7718891" cy="5301764"/>
          </a:xfrm>
          <a:custGeom>
            <a:avLst/>
            <a:gdLst/>
            <a:ahLst/>
            <a:cxnLst/>
            <a:rect r="r" b="b" t="t" l="l"/>
            <a:pathLst>
              <a:path h="5301764" w="7718891">
                <a:moveTo>
                  <a:pt x="0" y="0"/>
                </a:moveTo>
                <a:lnTo>
                  <a:pt x="7718891" y="0"/>
                </a:lnTo>
                <a:lnTo>
                  <a:pt x="7718891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251393"/>
            <a:ext cx="6887095" cy="5301764"/>
          </a:xfrm>
          <a:custGeom>
            <a:avLst/>
            <a:gdLst/>
            <a:ahLst/>
            <a:cxnLst/>
            <a:rect r="r" b="b" t="t" l="l"/>
            <a:pathLst>
              <a:path h="5301764" w="6887095">
                <a:moveTo>
                  <a:pt x="0" y="0"/>
                </a:moveTo>
                <a:lnTo>
                  <a:pt x="6887095" y="0"/>
                </a:lnTo>
                <a:lnTo>
                  <a:pt x="6887095" y="5301764"/>
                </a:lnTo>
                <a:lnTo>
                  <a:pt x="0" y="5301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3327468"/>
            <a:ext cx="75731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[GeoPackage로 저장] &gt; 제주도_숙박_객실수.gpkg 저장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0132" y="3336993"/>
            <a:ext cx="729666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합계 열 ‘객실수_int_sum’ 열의 값 확인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25488"/>
            <a:ext cx="9433280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5. grid_제주도_1K.gpkg의 각 격자에 해당하는 객실수 합계 구하기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0132" y="4273618"/>
            <a:ext cx="7587480" cy="5279539"/>
          </a:xfrm>
          <a:custGeom>
            <a:avLst/>
            <a:gdLst/>
            <a:ahLst/>
            <a:cxnLst/>
            <a:rect r="r" b="b" t="t" l="l"/>
            <a:pathLst>
              <a:path h="5279539" w="7587480">
                <a:moveTo>
                  <a:pt x="0" y="0"/>
                </a:moveTo>
                <a:lnTo>
                  <a:pt x="7587480" y="0"/>
                </a:lnTo>
                <a:lnTo>
                  <a:pt x="7587480" y="5279539"/>
                </a:lnTo>
                <a:lnTo>
                  <a:pt x="0" y="5279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273618"/>
            <a:ext cx="7418199" cy="5279539"/>
          </a:xfrm>
          <a:custGeom>
            <a:avLst/>
            <a:gdLst/>
            <a:ahLst/>
            <a:cxnLst/>
            <a:rect r="r" b="b" t="t" l="l"/>
            <a:pathLst>
              <a:path h="5279539" w="7418199">
                <a:moveTo>
                  <a:pt x="0" y="0"/>
                </a:moveTo>
                <a:lnTo>
                  <a:pt x="7418199" y="0"/>
                </a:lnTo>
                <a:lnTo>
                  <a:pt x="7418199" y="5279539"/>
                </a:lnTo>
                <a:lnTo>
                  <a:pt x="0" y="5279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3327468"/>
            <a:ext cx="846486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제주도_숙박_객실수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.gpkg 레이어의 [속성 테이블 열기] &gt; [필드 계산기] &gt; 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‘객실수_int_sum’ 열을 표현식에 작성하고, 정수형 컬럼명을 ‘객실수_sum’으로 저장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5488"/>
            <a:ext cx="12595954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 제주도 숙박 객실수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(제주도_숙박_객실수.gpkg)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 ‘객실수_int_sum’ 열 정수화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0132" y="3403668"/>
            <a:ext cx="5819597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정수형 컬럼명 ‘객실수_sum’ 열의 값 확인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273618"/>
            <a:ext cx="7451389" cy="5273291"/>
          </a:xfrm>
          <a:custGeom>
            <a:avLst/>
            <a:gdLst/>
            <a:ahLst/>
            <a:cxnLst/>
            <a:rect r="r" b="b" t="t" l="l"/>
            <a:pathLst>
              <a:path h="5273291" w="7451389">
                <a:moveTo>
                  <a:pt x="0" y="0"/>
                </a:moveTo>
                <a:lnTo>
                  <a:pt x="7451389" y="0"/>
                </a:lnTo>
                <a:lnTo>
                  <a:pt x="7451389" y="5273291"/>
                </a:lnTo>
                <a:lnTo>
                  <a:pt x="0" y="5273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98660" y="4273618"/>
            <a:ext cx="7460005" cy="5273291"/>
          </a:xfrm>
          <a:custGeom>
            <a:avLst/>
            <a:gdLst/>
            <a:ahLst/>
            <a:cxnLst/>
            <a:rect r="r" b="b" t="t" l="l"/>
            <a:pathLst>
              <a:path h="5273291" w="7460005">
                <a:moveTo>
                  <a:pt x="0" y="0"/>
                </a:moveTo>
                <a:lnTo>
                  <a:pt x="7460005" y="0"/>
                </a:lnTo>
                <a:lnTo>
                  <a:pt x="7460005" y="5273291"/>
                </a:lnTo>
                <a:lnTo>
                  <a:pt x="0" y="527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27468"/>
            <a:ext cx="757318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주도_숙박_객실수.gpkg 레이어의 [속성] &gt; [심볼]에서 단계구분도 표시를 위한 설정값 선택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5488"/>
            <a:ext cx="11451603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7. 제주도 숙박 객실수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(제주도_숙박_객실수.gpkg) 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단계구분도 표시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0132" y="3403668"/>
            <a:ext cx="5819597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주도_숙박_객실수.gpkg 단계구분도 시각화 결과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39763"/>
            <a:ext cx="15544399" cy="5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8.  [공간 처리 툴박스] → ORS Tools 검색 → [Isochrones from Point-Layer] 클릭 → 분석 실행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3951128"/>
            <a:ext cx="7868424" cy="5051712"/>
          </a:xfrm>
          <a:custGeom>
            <a:avLst/>
            <a:gdLst/>
            <a:ahLst/>
            <a:cxnLst/>
            <a:rect r="r" b="b" t="t" l="l"/>
            <a:pathLst>
              <a:path h="5051712" w="7868424">
                <a:moveTo>
                  <a:pt x="0" y="0"/>
                </a:moveTo>
                <a:lnTo>
                  <a:pt x="7868424" y="0"/>
                </a:lnTo>
                <a:lnTo>
                  <a:pt x="7868424" y="5051712"/>
                </a:lnTo>
                <a:lnTo>
                  <a:pt x="0" y="5051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944465" y="7402215"/>
            <a:ext cx="3018447" cy="349109"/>
            <a:chOff x="0" y="0"/>
            <a:chExt cx="814221" cy="94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4221" cy="94172"/>
            </a:xfrm>
            <a:custGeom>
              <a:avLst/>
              <a:gdLst/>
              <a:ahLst/>
              <a:cxnLst/>
              <a:rect r="r" b="b" t="t" l="l"/>
              <a:pathLst>
                <a:path h="94172" w="814221">
                  <a:moveTo>
                    <a:pt x="0" y="0"/>
                  </a:moveTo>
                  <a:lnTo>
                    <a:pt x="814221" y="0"/>
                  </a:lnTo>
                  <a:lnTo>
                    <a:pt x="814221" y="94172"/>
                  </a:lnTo>
                  <a:lnTo>
                    <a:pt x="0" y="94172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4221" cy="141797"/>
            </a:xfrm>
            <a:prstGeom prst="rect">
              <a:avLst/>
            </a:prstGeom>
          </p:spPr>
          <p:txBody>
            <a:bodyPr anchor="ctr" rtlCol="false" tIns="49600" lIns="49600" bIns="49600" rIns="496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08572" y="3457961"/>
            <a:ext cx="6964527" cy="6095196"/>
          </a:xfrm>
          <a:custGeom>
            <a:avLst/>
            <a:gdLst/>
            <a:ahLst/>
            <a:cxnLst/>
            <a:rect r="r" b="b" t="t" l="l"/>
            <a:pathLst>
              <a:path h="6095196" w="6964527">
                <a:moveTo>
                  <a:pt x="0" y="0"/>
                </a:moveTo>
                <a:lnTo>
                  <a:pt x="6964527" y="0"/>
                </a:lnTo>
                <a:lnTo>
                  <a:pt x="6964527" y="6095196"/>
                </a:lnTo>
                <a:lnTo>
                  <a:pt x="0" y="609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4962912" y="7595820"/>
            <a:ext cx="4413084" cy="0"/>
          </a:xfrm>
          <a:prstGeom prst="line">
            <a:avLst/>
          </a:prstGeom>
          <a:ln cap="flat" w="38100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7005" y="3297329"/>
            <a:ext cx="7213663" cy="6300412"/>
          </a:xfrm>
          <a:custGeom>
            <a:avLst/>
            <a:gdLst/>
            <a:ahLst/>
            <a:cxnLst/>
            <a:rect r="r" b="b" t="t" l="l"/>
            <a:pathLst>
              <a:path h="6300412" w="7213663">
                <a:moveTo>
                  <a:pt x="0" y="0"/>
                </a:moveTo>
                <a:lnTo>
                  <a:pt x="7213663" y="0"/>
                </a:lnTo>
                <a:lnTo>
                  <a:pt x="7213663" y="6300411"/>
                </a:lnTo>
                <a:lnTo>
                  <a:pt x="0" y="6300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458711" y="4740838"/>
            <a:ext cx="809103" cy="282707"/>
            <a:chOff x="0" y="0"/>
            <a:chExt cx="205742" cy="71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742" cy="71888"/>
            </a:xfrm>
            <a:custGeom>
              <a:avLst/>
              <a:gdLst/>
              <a:ahLst/>
              <a:cxnLst/>
              <a:rect r="r" b="b" t="t" l="l"/>
              <a:pathLst>
                <a:path h="71888" w="205742">
                  <a:moveTo>
                    <a:pt x="0" y="0"/>
                  </a:moveTo>
                  <a:lnTo>
                    <a:pt x="205742" y="0"/>
                  </a:lnTo>
                  <a:lnTo>
                    <a:pt x="205742" y="71888"/>
                  </a:lnTo>
                  <a:lnTo>
                    <a:pt x="0" y="71888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5742" cy="11951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58711" y="5234846"/>
            <a:ext cx="2847938" cy="282707"/>
            <a:chOff x="0" y="0"/>
            <a:chExt cx="724187" cy="718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4187" cy="71888"/>
            </a:xfrm>
            <a:custGeom>
              <a:avLst/>
              <a:gdLst/>
              <a:ahLst/>
              <a:cxnLst/>
              <a:rect r="r" b="b" t="t" l="l"/>
              <a:pathLst>
                <a:path h="71888" w="724187">
                  <a:moveTo>
                    <a:pt x="0" y="0"/>
                  </a:moveTo>
                  <a:lnTo>
                    <a:pt x="724187" y="0"/>
                  </a:lnTo>
                  <a:lnTo>
                    <a:pt x="724187" y="71888"/>
                  </a:lnTo>
                  <a:lnTo>
                    <a:pt x="0" y="71888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24187" cy="11951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8711" y="6961938"/>
            <a:ext cx="387529" cy="282707"/>
            <a:chOff x="0" y="0"/>
            <a:chExt cx="98543" cy="718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543" cy="71888"/>
            </a:xfrm>
            <a:custGeom>
              <a:avLst/>
              <a:gdLst/>
              <a:ahLst/>
              <a:cxnLst/>
              <a:rect r="r" b="b" t="t" l="l"/>
              <a:pathLst>
                <a:path h="71888" w="98543">
                  <a:moveTo>
                    <a:pt x="0" y="0"/>
                  </a:moveTo>
                  <a:lnTo>
                    <a:pt x="98543" y="0"/>
                  </a:lnTo>
                  <a:lnTo>
                    <a:pt x="98543" y="71888"/>
                  </a:lnTo>
                  <a:lnTo>
                    <a:pt x="0" y="71888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8543" cy="11951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8711" y="7454195"/>
            <a:ext cx="809103" cy="282707"/>
            <a:chOff x="0" y="0"/>
            <a:chExt cx="205742" cy="71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742" cy="71888"/>
            </a:xfrm>
            <a:custGeom>
              <a:avLst/>
              <a:gdLst/>
              <a:ahLst/>
              <a:cxnLst/>
              <a:rect r="r" b="b" t="t" l="l"/>
              <a:pathLst>
                <a:path h="71888" w="205742">
                  <a:moveTo>
                    <a:pt x="0" y="0"/>
                  </a:moveTo>
                  <a:lnTo>
                    <a:pt x="205742" y="0"/>
                  </a:lnTo>
                  <a:lnTo>
                    <a:pt x="205742" y="71888"/>
                  </a:lnTo>
                  <a:lnTo>
                    <a:pt x="0" y="71888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5742" cy="11951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58711" y="6469681"/>
            <a:ext cx="637651" cy="282707"/>
            <a:chOff x="0" y="0"/>
            <a:chExt cx="162145" cy="718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145" cy="71888"/>
            </a:xfrm>
            <a:custGeom>
              <a:avLst/>
              <a:gdLst/>
              <a:ahLst/>
              <a:cxnLst/>
              <a:rect r="r" b="b" t="t" l="l"/>
              <a:pathLst>
                <a:path h="71888" w="162145">
                  <a:moveTo>
                    <a:pt x="0" y="0"/>
                  </a:moveTo>
                  <a:lnTo>
                    <a:pt x="162145" y="0"/>
                  </a:lnTo>
                  <a:lnTo>
                    <a:pt x="162145" y="71888"/>
                  </a:lnTo>
                  <a:lnTo>
                    <a:pt x="0" y="71888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62145" cy="11951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33146" y="6782868"/>
            <a:ext cx="1177924" cy="273723"/>
            <a:chOff x="0" y="0"/>
            <a:chExt cx="299528" cy="696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9528" cy="69603"/>
            </a:xfrm>
            <a:custGeom>
              <a:avLst/>
              <a:gdLst/>
              <a:ahLst/>
              <a:cxnLst/>
              <a:rect r="r" b="b" t="t" l="l"/>
              <a:pathLst>
                <a:path h="69603" w="299528">
                  <a:moveTo>
                    <a:pt x="0" y="0"/>
                  </a:moveTo>
                  <a:lnTo>
                    <a:pt x="299528" y="0"/>
                  </a:lnTo>
                  <a:lnTo>
                    <a:pt x="299528" y="69603"/>
                  </a:lnTo>
                  <a:lnTo>
                    <a:pt x="0" y="69603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99528" cy="117228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67341" y="8165176"/>
            <a:ext cx="326209" cy="282707"/>
            <a:chOff x="0" y="0"/>
            <a:chExt cx="82950" cy="718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950" cy="71888"/>
            </a:xfrm>
            <a:custGeom>
              <a:avLst/>
              <a:gdLst/>
              <a:ahLst/>
              <a:cxnLst/>
              <a:rect r="r" b="b" t="t" l="l"/>
              <a:pathLst>
                <a:path h="71888" w="82950">
                  <a:moveTo>
                    <a:pt x="0" y="0"/>
                  </a:moveTo>
                  <a:lnTo>
                    <a:pt x="82950" y="0"/>
                  </a:lnTo>
                  <a:lnTo>
                    <a:pt x="82950" y="71888"/>
                  </a:lnTo>
                  <a:lnTo>
                    <a:pt x="0" y="71888"/>
                  </a:lnTo>
                  <a:close/>
                </a:path>
              </a:pathLst>
            </a:custGeom>
            <a:ln w="42862" cap="sq">
              <a:solidFill>
                <a:srgbClr val="DD2E4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2950" cy="119513"/>
            </a:xfrm>
            <a:prstGeom prst="rect">
              <a:avLst/>
            </a:prstGeom>
          </p:spPr>
          <p:txBody>
            <a:bodyPr anchor="ctr" rtlCol="false" tIns="52616" lIns="52616" bIns="52616" rIns="52616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300768" y="3668482"/>
            <a:ext cx="7862924" cy="5558105"/>
          </a:xfrm>
          <a:custGeom>
            <a:avLst/>
            <a:gdLst/>
            <a:ahLst/>
            <a:cxnLst/>
            <a:rect r="r" b="b" t="t" l="l"/>
            <a:pathLst>
              <a:path h="5558105" w="7862924">
                <a:moveTo>
                  <a:pt x="0" y="0"/>
                </a:moveTo>
                <a:lnTo>
                  <a:pt x="7862925" y="0"/>
                </a:lnTo>
                <a:lnTo>
                  <a:pt x="7862925" y="5558105"/>
                </a:lnTo>
                <a:lnTo>
                  <a:pt x="0" y="5558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174933" y="4709678"/>
            <a:ext cx="1595000" cy="357305"/>
            <a:chOff x="0" y="0"/>
            <a:chExt cx="2126667" cy="47640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126667" cy="476407"/>
              <a:chOff x="0" y="0"/>
              <a:chExt cx="863313" cy="19338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63313" cy="193383"/>
              </a:xfrm>
              <a:custGeom>
                <a:avLst/>
                <a:gdLst/>
                <a:ahLst/>
                <a:cxnLst/>
                <a:rect r="r" b="b" t="t" l="l"/>
                <a:pathLst>
                  <a:path h="193383" w="863313">
                    <a:moveTo>
                      <a:pt x="863313" y="0"/>
                    </a:moveTo>
                    <a:lnTo>
                      <a:pt x="863313" y="193383"/>
                    </a:lnTo>
                    <a:lnTo>
                      <a:pt x="0" y="1933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863313" cy="2410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5529" y="53636"/>
              <a:ext cx="1839187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접근 방식 : 자동차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05441" y="5203687"/>
            <a:ext cx="2596069" cy="345027"/>
            <a:chOff x="0" y="0"/>
            <a:chExt cx="3461426" cy="46003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461426" cy="460036"/>
              <a:chOff x="0" y="0"/>
              <a:chExt cx="1405154" cy="186738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05154" cy="186738"/>
              </a:xfrm>
              <a:custGeom>
                <a:avLst/>
                <a:gdLst/>
                <a:ahLst/>
                <a:cxnLst/>
                <a:rect r="r" b="b" t="t" l="l"/>
                <a:pathLst>
                  <a:path h="186738" w="1405154">
                    <a:moveTo>
                      <a:pt x="1405154" y="0"/>
                    </a:moveTo>
                    <a:lnTo>
                      <a:pt x="1405154" y="186738"/>
                    </a:lnTo>
                    <a:lnTo>
                      <a:pt x="0" y="1867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1405154" cy="2343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83389" y="39518"/>
              <a:ext cx="3094648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공유업무시설 좌표 레이어 지정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12581" y="6297307"/>
            <a:ext cx="1906115" cy="627455"/>
            <a:chOff x="0" y="0"/>
            <a:chExt cx="2541486" cy="83660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541486" cy="836607"/>
              <a:chOff x="0" y="0"/>
              <a:chExt cx="1031708" cy="33959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31708" cy="339596"/>
              </a:xfrm>
              <a:custGeom>
                <a:avLst/>
                <a:gdLst/>
                <a:ahLst/>
                <a:cxnLst/>
                <a:rect r="r" b="b" t="t" l="l"/>
                <a:pathLst>
                  <a:path h="339596" w="1031708">
                    <a:moveTo>
                      <a:pt x="1031708" y="0"/>
                    </a:moveTo>
                    <a:lnTo>
                      <a:pt x="1031708" y="339596"/>
                    </a:lnTo>
                    <a:lnTo>
                      <a:pt x="0" y="3395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031708" cy="387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41243" y="53636"/>
              <a:ext cx="2277175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거리를 기준으로 설정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*time : 시간 기준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144209" y="7281821"/>
            <a:ext cx="1906115" cy="627455"/>
            <a:chOff x="0" y="0"/>
            <a:chExt cx="2541486" cy="83660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2541486" cy="836607"/>
              <a:chOff x="0" y="0"/>
              <a:chExt cx="1031708" cy="339596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31708" cy="339596"/>
              </a:xfrm>
              <a:custGeom>
                <a:avLst/>
                <a:gdLst/>
                <a:ahLst/>
                <a:cxnLst/>
                <a:rect r="r" b="b" t="t" l="l"/>
                <a:pathLst>
                  <a:path h="339596" w="1031708">
                    <a:moveTo>
                      <a:pt x="1031708" y="0"/>
                    </a:moveTo>
                    <a:lnTo>
                      <a:pt x="1031708" y="339596"/>
                    </a:lnTo>
                    <a:lnTo>
                      <a:pt x="0" y="3395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47625"/>
                <a:ext cx="1031708" cy="387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41243" y="53636"/>
              <a:ext cx="2277175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도착지로 설정</a:t>
              </a:r>
            </a:p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*start : 출발지로 설정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595338" y="8927578"/>
            <a:ext cx="2252991" cy="367298"/>
            <a:chOff x="0" y="0"/>
            <a:chExt cx="3003988" cy="489731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3003988" cy="489731"/>
              <a:chOff x="0" y="0"/>
              <a:chExt cx="1219459" cy="19879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219459" cy="198792"/>
              </a:xfrm>
              <a:custGeom>
                <a:avLst/>
                <a:gdLst/>
                <a:ahLst/>
                <a:cxnLst/>
                <a:rect r="r" b="b" t="t" l="l"/>
                <a:pathLst>
                  <a:path h="198792" w="1219459">
                    <a:moveTo>
                      <a:pt x="1219459" y="0"/>
                    </a:moveTo>
                    <a:lnTo>
                      <a:pt x="1219459" y="198792"/>
                    </a:lnTo>
                    <a:lnTo>
                      <a:pt x="0" y="1987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1219459" cy="246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41243" y="53636"/>
              <a:ext cx="2681864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저장 경로 및 레이어명 지정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2369197" y="4892780"/>
            <a:ext cx="590554" cy="0"/>
          </a:xfrm>
          <a:prstGeom prst="line">
            <a:avLst/>
          </a:prstGeom>
          <a:ln cap="flat" w="28575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4" id="54"/>
          <p:cNvSpPr/>
          <p:nvPr/>
        </p:nvSpPr>
        <p:spPr>
          <a:xfrm>
            <a:off x="4434202" y="5361912"/>
            <a:ext cx="590554" cy="0"/>
          </a:xfrm>
          <a:prstGeom prst="line">
            <a:avLst/>
          </a:prstGeom>
          <a:ln cap="flat" w="28575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>
            <a:off x="2258287" y="6611035"/>
            <a:ext cx="590554" cy="0"/>
          </a:xfrm>
          <a:prstGeom prst="line">
            <a:avLst/>
          </a:prstGeom>
          <a:ln cap="flat" w="28575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>
            <a:off x="2380678" y="7560031"/>
            <a:ext cx="590554" cy="0"/>
          </a:xfrm>
          <a:prstGeom prst="line">
            <a:avLst/>
          </a:prstGeom>
          <a:ln cap="flat" w="28575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 flipV="true">
            <a:off x="5219171" y="8532289"/>
            <a:ext cx="0" cy="309565"/>
          </a:xfrm>
          <a:prstGeom prst="line">
            <a:avLst/>
          </a:prstGeom>
          <a:ln cap="flat" w="28575">
            <a:solidFill>
              <a:srgbClr val="DD2E44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8" id="58"/>
          <p:cNvSpPr txBox="true"/>
          <p:nvPr/>
        </p:nvSpPr>
        <p:spPr>
          <a:xfrm rot="0">
            <a:off x="1121922" y="2756603"/>
            <a:ext cx="7507748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23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공유업무시설에 </a:t>
            </a:r>
            <a:r>
              <a:rPr lang="en-US" sz="2300" b="true">
                <a:solidFill>
                  <a:srgbClr val="DD2E4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자동차로 5000m</a:t>
            </a:r>
            <a:r>
              <a:rPr lang="en-US" sz="23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접근 가능 영역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504343" y="2756603"/>
            <a:ext cx="7507748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23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ORS 실행 화면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0132" y="4273618"/>
            <a:ext cx="7535309" cy="5326522"/>
          </a:xfrm>
          <a:custGeom>
            <a:avLst/>
            <a:gdLst/>
            <a:ahLst/>
            <a:cxnLst/>
            <a:rect r="r" b="b" t="t" l="l"/>
            <a:pathLst>
              <a:path h="5326522" w="7535309">
                <a:moveTo>
                  <a:pt x="0" y="0"/>
                </a:moveTo>
                <a:lnTo>
                  <a:pt x="7535309" y="0"/>
                </a:lnTo>
                <a:lnTo>
                  <a:pt x="7535309" y="5326522"/>
                </a:lnTo>
                <a:lnTo>
                  <a:pt x="0" y="5326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135149"/>
            <a:ext cx="6725769" cy="5641560"/>
          </a:xfrm>
          <a:custGeom>
            <a:avLst/>
            <a:gdLst/>
            <a:ahLst/>
            <a:cxnLst/>
            <a:rect r="r" b="b" t="t" l="l"/>
            <a:pathLst>
              <a:path h="5641560" w="6725769">
                <a:moveTo>
                  <a:pt x="0" y="0"/>
                </a:moveTo>
                <a:lnTo>
                  <a:pt x="6725769" y="0"/>
                </a:lnTo>
                <a:lnTo>
                  <a:pt x="6725769" y="5641560"/>
                </a:lnTo>
                <a:lnTo>
                  <a:pt x="0" y="5641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3298893"/>
            <a:ext cx="81153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[벡터] &gt; [Geoprocessing Tools] &gt; [잘라내기(clip)] &gt; 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bnd_sido_39_2</a:t>
            </a: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025_2Q 레이어에 해당하는 제주도_공유업무시설_5000m 선택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5488"/>
            <a:ext cx="14552564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9. 제주도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(bnd_sido_39_2025_2Q.shp)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에 해당하는 제주도_공유업무시설_5000m.gpkg 추출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0132" y="3375093"/>
            <a:ext cx="7239886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[잘라내기(clip)] 결과물 (제주도_공유업무시설_5000m_clip,gpkg)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0132" y="4279749"/>
            <a:ext cx="7526635" cy="5320390"/>
          </a:xfrm>
          <a:custGeom>
            <a:avLst/>
            <a:gdLst/>
            <a:ahLst/>
            <a:cxnLst/>
            <a:rect r="r" b="b" t="t" l="l"/>
            <a:pathLst>
              <a:path h="5320390" w="7526635">
                <a:moveTo>
                  <a:pt x="0" y="0"/>
                </a:moveTo>
                <a:lnTo>
                  <a:pt x="7526635" y="0"/>
                </a:lnTo>
                <a:lnTo>
                  <a:pt x="7526635" y="5320391"/>
                </a:lnTo>
                <a:lnTo>
                  <a:pt x="0" y="5320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279749"/>
            <a:ext cx="7428808" cy="5320390"/>
          </a:xfrm>
          <a:custGeom>
            <a:avLst/>
            <a:gdLst/>
            <a:ahLst/>
            <a:cxnLst/>
            <a:rect r="r" b="b" t="t" l="l"/>
            <a:pathLst>
              <a:path h="5320390" w="7428808">
                <a:moveTo>
                  <a:pt x="0" y="0"/>
                </a:moveTo>
                <a:lnTo>
                  <a:pt x="7428808" y="0"/>
                </a:lnTo>
                <a:lnTo>
                  <a:pt x="7428808" y="5320391"/>
                </a:lnTo>
                <a:lnTo>
                  <a:pt x="0" y="5320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27468"/>
            <a:ext cx="81153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제주도_총_숙박.gpkg 레이어의 [속성] &gt; [심볼]에서 분류값 사용을 위한 설정값 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선택 &gt; 호텔업에 해당하는 업종은 같은 색상 설정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5488"/>
            <a:ext cx="14552564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10. 제주도 숙박</a:t>
            </a:r>
            <a:r>
              <a:rPr lang="en-US" sz="2799" b="true">
                <a:solidFill>
                  <a:srgbClr val="84898D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(제주도_총_숙박.gpkg) </a:t>
            </a:r>
            <a:r>
              <a:rPr lang="en-US" sz="2799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레이어의 분류값 사용을 통해 숙박유형 구분 시각화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0132" y="3403668"/>
            <a:ext cx="7239886" cy="29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제주도_총_숙박.gpkg 분류값 사용 시각화 결과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과정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solidFill>
              <a:srgbClr val="DCDFE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5317" y="3473844"/>
            <a:ext cx="8669904" cy="6128539"/>
          </a:xfrm>
          <a:custGeom>
            <a:avLst/>
            <a:gdLst/>
            <a:ahLst/>
            <a:cxnLst/>
            <a:rect r="r" b="b" t="t" l="l"/>
            <a:pathLst>
              <a:path h="6128539" w="8669904">
                <a:moveTo>
                  <a:pt x="0" y="0"/>
                </a:moveTo>
                <a:lnTo>
                  <a:pt x="8669904" y="0"/>
                </a:lnTo>
                <a:lnTo>
                  <a:pt x="8669904" y="6128538"/>
                </a:lnTo>
                <a:lnTo>
                  <a:pt x="0" y="6128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4967" y="3824656"/>
            <a:ext cx="3848922" cy="3426341"/>
          </a:xfrm>
          <a:custGeom>
            <a:avLst/>
            <a:gdLst/>
            <a:ahLst/>
            <a:cxnLst/>
            <a:rect r="r" b="b" t="t" l="l"/>
            <a:pathLst>
              <a:path h="3426341" w="3848922">
                <a:moveTo>
                  <a:pt x="0" y="0"/>
                </a:moveTo>
                <a:lnTo>
                  <a:pt x="3848922" y="0"/>
                </a:lnTo>
                <a:lnTo>
                  <a:pt x="3848922" y="3426342"/>
                </a:lnTo>
                <a:lnTo>
                  <a:pt x="0" y="3426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19" t="0" r="-9905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4022146" y="3450355"/>
            <a:ext cx="277561" cy="275578"/>
            <a:chOff x="0" y="0"/>
            <a:chExt cx="370082" cy="3674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0082" cy="367437"/>
            </a:xfrm>
            <a:custGeom>
              <a:avLst/>
              <a:gdLst/>
              <a:ahLst/>
              <a:cxnLst/>
              <a:rect r="r" b="b" t="t" l="l"/>
              <a:pathLst>
                <a:path h="367437" w="370082">
                  <a:moveTo>
                    <a:pt x="0" y="0"/>
                  </a:moveTo>
                  <a:lnTo>
                    <a:pt x="370082" y="0"/>
                  </a:lnTo>
                  <a:lnTo>
                    <a:pt x="370082" y="367437"/>
                  </a:lnTo>
                  <a:lnTo>
                    <a:pt x="0" y="367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59" r="0" b="-35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9820" y="25791"/>
              <a:ext cx="170442" cy="315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8"/>
                </a:lnSpc>
              </a:pPr>
              <a:r>
                <a:rPr lang="en-US" sz="1581" b="true">
                  <a:solidFill>
                    <a:srgbClr val="DD2E4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04967" y="3426865"/>
            <a:ext cx="277561" cy="275578"/>
            <a:chOff x="0" y="0"/>
            <a:chExt cx="370082" cy="3674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0082" cy="367437"/>
            </a:xfrm>
            <a:custGeom>
              <a:avLst/>
              <a:gdLst/>
              <a:ahLst/>
              <a:cxnLst/>
              <a:rect r="r" b="b" t="t" l="l"/>
              <a:pathLst>
                <a:path h="367437" w="370082">
                  <a:moveTo>
                    <a:pt x="0" y="0"/>
                  </a:moveTo>
                  <a:lnTo>
                    <a:pt x="370082" y="0"/>
                  </a:lnTo>
                  <a:lnTo>
                    <a:pt x="370082" y="367437"/>
                  </a:lnTo>
                  <a:lnTo>
                    <a:pt x="0" y="367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59" r="0" b="-3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99820" y="25791"/>
              <a:ext cx="170442" cy="315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8"/>
                </a:lnSpc>
              </a:pPr>
              <a:r>
                <a:rPr lang="en-US" sz="1581" b="true">
                  <a:solidFill>
                    <a:srgbClr val="DD2E4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57123" y="6779982"/>
            <a:ext cx="327319" cy="324981"/>
            <a:chOff x="0" y="0"/>
            <a:chExt cx="436426" cy="4333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6426" cy="433308"/>
            </a:xfrm>
            <a:custGeom>
              <a:avLst/>
              <a:gdLst/>
              <a:ahLst/>
              <a:cxnLst/>
              <a:rect r="r" b="b" t="t" l="l"/>
              <a:pathLst>
                <a:path h="433308" w="436426">
                  <a:moveTo>
                    <a:pt x="0" y="0"/>
                  </a:moveTo>
                  <a:lnTo>
                    <a:pt x="436426" y="0"/>
                  </a:lnTo>
                  <a:lnTo>
                    <a:pt x="436426" y="433308"/>
                  </a:lnTo>
                  <a:lnTo>
                    <a:pt x="0" y="433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59" r="0" b="-3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7714" y="30414"/>
              <a:ext cx="200997" cy="372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44"/>
                </a:lnSpc>
              </a:pPr>
              <a:r>
                <a:rPr lang="en-US" b="true" sz="1865">
                  <a:solidFill>
                    <a:srgbClr val="DD2E4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923569" y="5538684"/>
            <a:ext cx="327319" cy="324981"/>
            <a:chOff x="0" y="0"/>
            <a:chExt cx="436426" cy="4333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6426" cy="433308"/>
            </a:xfrm>
            <a:custGeom>
              <a:avLst/>
              <a:gdLst/>
              <a:ahLst/>
              <a:cxnLst/>
              <a:rect r="r" b="b" t="t" l="l"/>
              <a:pathLst>
                <a:path h="433308" w="436426">
                  <a:moveTo>
                    <a:pt x="0" y="0"/>
                  </a:moveTo>
                  <a:lnTo>
                    <a:pt x="436426" y="0"/>
                  </a:lnTo>
                  <a:lnTo>
                    <a:pt x="436426" y="433308"/>
                  </a:lnTo>
                  <a:lnTo>
                    <a:pt x="0" y="433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359" r="0" b="-3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17714" y="30414"/>
              <a:ext cx="200997" cy="372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44"/>
                </a:lnSpc>
              </a:pPr>
              <a:r>
                <a:rPr lang="en-US" b="true" sz="1865">
                  <a:solidFill>
                    <a:srgbClr val="DD2E44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04967" y="8505067"/>
            <a:ext cx="7852046" cy="1392590"/>
            <a:chOff x="0" y="0"/>
            <a:chExt cx="2191888" cy="3887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1888" cy="388714"/>
            </a:xfrm>
            <a:custGeom>
              <a:avLst/>
              <a:gdLst/>
              <a:ahLst/>
              <a:cxnLst/>
              <a:rect r="r" b="b" t="t" l="l"/>
              <a:pathLst>
                <a:path h="388714" w="2191888">
                  <a:moveTo>
                    <a:pt x="2191888" y="0"/>
                  </a:moveTo>
                  <a:lnTo>
                    <a:pt x="2191888" y="388714"/>
                  </a:lnTo>
                  <a:lnTo>
                    <a:pt x="0" y="3887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91888" cy="436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04967" y="7384447"/>
            <a:ext cx="3848991" cy="889445"/>
            <a:chOff x="0" y="0"/>
            <a:chExt cx="996951" cy="2303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6951" cy="230366"/>
            </a:xfrm>
            <a:custGeom>
              <a:avLst/>
              <a:gdLst/>
              <a:ahLst/>
              <a:cxnLst/>
              <a:rect r="r" b="b" t="t" l="l"/>
              <a:pathLst>
                <a:path h="230366" w="996951">
                  <a:moveTo>
                    <a:pt x="996951" y="0"/>
                  </a:moveTo>
                  <a:lnTo>
                    <a:pt x="996951" y="230366"/>
                  </a:lnTo>
                  <a:lnTo>
                    <a:pt x="0" y="230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96951" cy="277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997862" y="7384447"/>
            <a:ext cx="3759151" cy="889445"/>
            <a:chOff x="0" y="0"/>
            <a:chExt cx="973681" cy="2303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3681" cy="230366"/>
            </a:xfrm>
            <a:custGeom>
              <a:avLst/>
              <a:gdLst/>
              <a:ahLst/>
              <a:cxnLst/>
              <a:rect r="r" b="b" t="t" l="l"/>
              <a:pathLst>
                <a:path h="230366" w="973681">
                  <a:moveTo>
                    <a:pt x="973681" y="0"/>
                  </a:moveTo>
                  <a:lnTo>
                    <a:pt x="973681" y="230366"/>
                  </a:lnTo>
                  <a:lnTo>
                    <a:pt x="0" y="230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73681" cy="277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3997862" y="3826370"/>
            <a:ext cx="3749916" cy="3424628"/>
          </a:xfrm>
          <a:custGeom>
            <a:avLst/>
            <a:gdLst/>
            <a:ahLst/>
            <a:cxnLst/>
            <a:rect r="r" b="b" t="t" l="l"/>
            <a:pathLst>
              <a:path h="3424628" w="3749916">
                <a:moveTo>
                  <a:pt x="0" y="0"/>
                </a:moveTo>
                <a:lnTo>
                  <a:pt x="3749916" y="0"/>
                </a:lnTo>
                <a:lnTo>
                  <a:pt x="3749916" y="3424628"/>
                </a:lnTo>
                <a:lnTo>
                  <a:pt x="0" y="3424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84" t="-314" r="-7172" b="-4446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4187118" y="2725488"/>
            <a:ext cx="9913764" cy="4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799" b="true">
                <a:solidFill>
                  <a:srgbClr val="122A6B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제주도</a:t>
            </a:r>
            <a:r>
              <a:rPr lang="en-US" b="true" sz="2799">
                <a:solidFill>
                  <a:srgbClr val="122A6B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내 공유업무시설과 호텔업 현황 시각화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47113" y="3483369"/>
            <a:ext cx="3186806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제주특별자치도 서귀포</a:t>
            </a:r>
            <a:r>
              <a:rPr lang="en-US" sz="18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 남원읍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02078" y="3483369"/>
            <a:ext cx="2763302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8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제주특별자치도</a:t>
            </a:r>
            <a:r>
              <a:rPr lang="en-US" sz="1800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제주시 구좌읍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5587" y="8653600"/>
            <a:ext cx="7842191" cy="109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</a:pPr>
            <a:r>
              <a:rPr lang="en-US" sz="199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“ 위의 공유업무시설들은 5000m 반경 내에 기업 선호도가 </a:t>
            </a:r>
          </a:p>
          <a:p>
            <a:pPr algn="ctr">
              <a:lnSpc>
                <a:spcPts val="2996"/>
              </a:lnSpc>
            </a:pPr>
            <a:r>
              <a:rPr lang="en-US" sz="199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높은 </a:t>
            </a:r>
            <a:r>
              <a:rPr lang="en-US" sz="1997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호텔업 숙박시설</a:t>
            </a:r>
            <a:r>
              <a:rPr lang="en-US" sz="199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</a:t>
            </a:r>
            <a:r>
              <a:rPr lang="en-US" sz="1997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부재</a:t>
            </a:r>
            <a:r>
              <a:rPr lang="en-US" sz="1997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하여, 숙박 인프라 결핍“</a:t>
            </a:r>
          </a:p>
          <a:p>
            <a:pPr algn="ctr">
              <a:lnSpc>
                <a:spcPts val="2996"/>
              </a:lnSpc>
            </a:pPr>
            <a:r>
              <a:rPr lang="en-US" sz="1997">
                <a:solidFill>
                  <a:srgbClr val="122A6B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→ </a:t>
            </a:r>
            <a:r>
              <a:rPr lang="en-US" sz="1997" b="true">
                <a:solidFill>
                  <a:srgbClr val="122A6B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근로자의 다양한 숙박 선택권 보장 필요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92471" y="1319719"/>
            <a:ext cx="10103058" cy="90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5"/>
              </a:lnSpc>
              <a:spcBef>
                <a:spcPct val="0"/>
              </a:spcBef>
            </a:pPr>
            <a:r>
              <a:rPr lang="en-US" b="true" sz="5260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 결과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43748" y="7438295"/>
            <a:ext cx="325246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민간형 워케이션 : 비레이지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84898D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* 수용인원 : 10명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53257" y="7438295"/>
            <a:ext cx="37796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민간형 워케이션 : 공간 7</a:t>
            </a:r>
          </a:p>
          <a:p>
            <a:pPr algn="l">
              <a:lnSpc>
                <a:spcPts val="3000"/>
              </a:lnSpc>
            </a:pPr>
            <a:r>
              <a:rPr lang="en-US" sz="2000" spc="-20">
                <a:solidFill>
                  <a:srgbClr val="84898D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* 수용인원 : 12명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5317" y="9678582"/>
            <a:ext cx="84036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84898D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* 공공형 워케이션 공유업무시설(3곳)을 제외하고 숙박시설 제공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2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4047" y="2692373"/>
            <a:ext cx="9174819" cy="170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true">
                <a:solidFill>
                  <a:srgbClr val="F6F6F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50832" y="-222197"/>
            <a:ext cx="18589664" cy="1073998"/>
            <a:chOff x="0" y="0"/>
            <a:chExt cx="4896043" cy="2828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96043" cy="282864"/>
            </a:xfrm>
            <a:custGeom>
              <a:avLst/>
              <a:gdLst/>
              <a:ahLst/>
              <a:cxnLst/>
              <a:rect r="r" b="b" t="t" l="l"/>
              <a:pathLst>
                <a:path h="282864" w="4896043">
                  <a:moveTo>
                    <a:pt x="0" y="0"/>
                  </a:moveTo>
                  <a:lnTo>
                    <a:pt x="4896043" y="0"/>
                  </a:lnTo>
                  <a:lnTo>
                    <a:pt x="4896043" y="282864"/>
                  </a:lnTo>
                  <a:lnTo>
                    <a:pt x="0" y="282864"/>
                  </a:lnTo>
                  <a:close/>
                </a:path>
              </a:pathLst>
            </a:custGeom>
            <a:ln w="19050" cap="sq">
              <a:solidFill>
                <a:srgbClr val="8BA7E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96043" cy="29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439468" y="528871"/>
            <a:ext cx="3086100" cy="645859"/>
            <a:chOff x="0" y="0"/>
            <a:chExt cx="812800" cy="1701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70103"/>
            </a:xfrm>
            <a:custGeom>
              <a:avLst/>
              <a:gdLst/>
              <a:ahLst/>
              <a:cxnLst/>
              <a:rect r="r" b="b" t="t" l="l"/>
              <a:pathLst>
                <a:path h="170103" w="812800">
                  <a:moveTo>
                    <a:pt x="85051" y="0"/>
                  </a:moveTo>
                  <a:lnTo>
                    <a:pt x="727749" y="0"/>
                  </a:lnTo>
                  <a:cubicBezTo>
                    <a:pt x="750306" y="0"/>
                    <a:pt x="771939" y="8961"/>
                    <a:pt x="787889" y="24911"/>
                  </a:cubicBezTo>
                  <a:cubicBezTo>
                    <a:pt x="803839" y="40861"/>
                    <a:pt x="812800" y="62494"/>
                    <a:pt x="812800" y="85051"/>
                  </a:cubicBezTo>
                  <a:lnTo>
                    <a:pt x="812800" y="85051"/>
                  </a:lnTo>
                  <a:cubicBezTo>
                    <a:pt x="812800" y="107608"/>
                    <a:pt x="803839" y="129242"/>
                    <a:pt x="787889" y="145192"/>
                  </a:cubicBezTo>
                  <a:cubicBezTo>
                    <a:pt x="771939" y="161142"/>
                    <a:pt x="750306" y="170103"/>
                    <a:pt x="727749" y="170103"/>
                  </a:cubicBezTo>
                  <a:lnTo>
                    <a:pt x="85051" y="170103"/>
                  </a:lnTo>
                  <a:cubicBezTo>
                    <a:pt x="62494" y="170103"/>
                    <a:pt x="40861" y="161142"/>
                    <a:pt x="24911" y="145192"/>
                  </a:cubicBezTo>
                  <a:cubicBezTo>
                    <a:pt x="8961" y="129242"/>
                    <a:pt x="0" y="107608"/>
                    <a:pt x="0" y="85051"/>
                  </a:cubicBezTo>
                  <a:lnTo>
                    <a:pt x="0" y="85051"/>
                  </a:lnTo>
                  <a:cubicBezTo>
                    <a:pt x="0" y="62494"/>
                    <a:pt x="8961" y="40861"/>
                    <a:pt x="24911" y="24911"/>
                  </a:cubicBezTo>
                  <a:cubicBezTo>
                    <a:pt x="40861" y="8961"/>
                    <a:pt x="62494" y="0"/>
                    <a:pt x="85051" y="0"/>
                  </a:cubicBezTo>
                  <a:close/>
                </a:path>
              </a:pathLst>
            </a:custGeom>
            <a:solidFill>
              <a:srgbClr val="122B6B"/>
            </a:solidFill>
            <a:ln w="19050" cap="rnd">
              <a:solidFill>
                <a:srgbClr val="8BA7E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12800" cy="179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60851" y="705440"/>
            <a:ext cx="264333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A8C2FE"/>
                </a:solidFill>
                <a:latin typeface="Canva Sans"/>
                <a:ea typeface="Canva Sans"/>
                <a:cs typeface="Canva Sans"/>
                <a:sym typeface="Canva Sans"/>
              </a:rPr>
              <a:t>공간정보서비스과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204047" y="7330375"/>
          <a:ext cx="6312562" cy="1345521"/>
        </p:xfrm>
        <a:graphic>
          <a:graphicData uri="http://schemas.openxmlformats.org/drawingml/2006/table">
            <a:tbl>
              <a:tblPr/>
              <a:tblGrid>
                <a:gridCol w="2366537"/>
                <a:gridCol w="3946025"/>
              </a:tblGrid>
              <a:tr h="6715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작성인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공간정보서비스과 청년인턴 임다원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0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작성</a:t>
                      </a:r>
                      <a:r>
                        <a:rPr lang="en-US" b="true" sz="1799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일자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A8C2FE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2026년  8월  6일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8BA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204047" y="4676762"/>
            <a:ext cx="9351073" cy="52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8C2FE"/>
                </a:solidFill>
                <a:latin typeface="Helvetica Now"/>
                <a:ea typeface="Helvetica Now"/>
                <a:cs typeface="Helvetica Now"/>
                <a:sym typeface="Helvetica Now"/>
              </a:rPr>
              <a:t>공간정보서비스과 QGIS ORS 분석사례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DAHI1uL8dJ0</dc:identifier>
  <dcterms:modified xsi:type="dcterms:W3CDTF">2011-08-01T06:04:30Z</dcterms:modified>
  <cp:revision>1</cp:revision>
  <dc:title>제주도 워케이션 인프라 접근성 분석</dc:title>
</cp:coreProperties>
</file>
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" charset="1" panose="020B0503030501040103"/>
      <p:regular r:id="rId20"/>
    </p:embeddedFont>
    <p:embeddedFont>
      <p:font typeface="프리텐다드 Medium" charset="1" panose="02000603000000020004"/>
      <p:regular r:id="rId21"/>
    </p:embeddedFont>
    <p:embeddedFont>
      <p:font typeface="프리텐다드 Bold" charset="1" panose="02000803000000020004"/>
      <p:regular r:id="rId22"/>
    </p:embeddedFont>
    <p:embeddedFont>
      <p:font typeface="Helvetica Now" charset="1" panose="020B0504030202020204"/>
      <p:regular r:id="rId23"/>
    </p:embeddedFont>
    <p:embeddedFont>
      <p:font typeface="프리텐다드" charset="1" panose="0200050300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9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ln w="19050" cap="sq">
              <a:solidFill>
                <a:srgbClr val="8BA7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39468" y="528871"/>
            <a:ext cx="3086100" cy="645859"/>
            <a:chOff x="0" y="0"/>
            <a:chExt cx="812800" cy="170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70103"/>
            </a:xfrm>
            <a:custGeom>
              <a:avLst/>
              <a:gdLst/>
              <a:ahLst/>
              <a:cxnLst/>
              <a:rect r="r" b="b" t="t" l="l"/>
              <a:pathLst>
                <a:path h="170103" w="812800">
                  <a:moveTo>
                    <a:pt x="85051" y="0"/>
                  </a:moveTo>
                  <a:lnTo>
                    <a:pt x="727749" y="0"/>
                  </a:lnTo>
                  <a:cubicBezTo>
                    <a:pt x="750306" y="0"/>
                    <a:pt x="771939" y="8961"/>
                    <a:pt x="787889" y="24911"/>
                  </a:cubicBezTo>
                  <a:cubicBezTo>
                    <a:pt x="803839" y="40861"/>
                    <a:pt x="812800" y="62494"/>
                    <a:pt x="812800" y="85051"/>
                  </a:cubicBezTo>
                  <a:lnTo>
                    <a:pt x="812800" y="85051"/>
                  </a:lnTo>
                  <a:cubicBezTo>
                    <a:pt x="812800" y="107608"/>
                    <a:pt x="803839" y="129242"/>
                    <a:pt x="787889" y="145192"/>
                  </a:cubicBezTo>
                  <a:cubicBezTo>
                    <a:pt x="771939" y="161142"/>
                    <a:pt x="750306" y="170103"/>
                    <a:pt x="727749" y="170103"/>
                  </a:cubicBezTo>
                  <a:lnTo>
                    <a:pt x="85051" y="170103"/>
                  </a:lnTo>
                  <a:cubicBezTo>
                    <a:pt x="62494" y="170103"/>
                    <a:pt x="40861" y="161142"/>
                    <a:pt x="24911" y="145192"/>
                  </a:cubicBezTo>
                  <a:cubicBezTo>
                    <a:pt x="8961" y="129242"/>
                    <a:pt x="0" y="107608"/>
                    <a:pt x="0" y="85051"/>
                  </a:cubicBezTo>
                  <a:lnTo>
                    <a:pt x="0" y="85051"/>
                  </a:lnTo>
                  <a:cubicBezTo>
                    <a:pt x="0" y="62494"/>
                    <a:pt x="8961" y="40861"/>
                    <a:pt x="24911" y="24911"/>
                  </a:cubicBezTo>
                  <a:cubicBezTo>
                    <a:pt x="40861" y="8961"/>
                    <a:pt x="62494" y="0"/>
                    <a:pt x="85051" y="0"/>
                  </a:cubicBezTo>
                  <a:close/>
                </a:path>
              </a:pathLst>
            </a:custGeom>
            <a:solidFill>
              <a:srgbClr val="122B6B"/>
            </a:solidFill>
            <a:ln w="19050" cap="rnd">
              <a:solidFill>
                <a:srgbClr val="8BA7E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12800" cy="179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660851" y="705440"/>
            <a:ext cx="264333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8C2FE"/>
                </a:solidFill>
                <a:latin typeface="Canva Sans"/>
                <a:ea typeface="Canva Sans"/>
                <a:cs typeface="Canva Sans"/>
                <a:sym typeface="Canva Sans"/>
              </a:rPr>
              <a:t>공간정보서비스과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04047" y="7330375"/>
          <a:ext cx="6312562" cy="1345521"/>
        </p:xfrm>
        <a:graphic>
          <a:graphicData uri="http://schemas.openxmlformats.org/drawingml/2006/table">
            <a:tbl>
              <a:tblPr/>
              <a:tblGrid>
                <a:gridCol w="2366537"/>
                <a:gridCol w="3946025"/>
              </a:tblGrid>
              <a:tr h="671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작성인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공간정보서비스과 청년인턴 이정민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작성일자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2026년  8월  10일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04047" y="2962262"/>
            <a:ext cx="15256714" cy="210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6F6F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GeoDeep을 활용한 정사영상 객체 탐지</a:t>
            </a:r>
          </a:p>
          <a:p>
            <a:pPr algn="l">
              <a:lnSpc>
                <a:spcPts val="84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7625" y="4182630"/>
            <a:ext cx="9351073" cy="5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8C2FE"/>
                </a:solidFill>
                <a:latin typeface="Helvetica Now"/>
                <a:ea typeface="Helvetica Now"/>
                <a:cs typeface="Helvetica Now"/>
                <a:sym typeface="Helvetica Now"/>
              </a:rPr>
              <a:t>광주 첨단지구 사례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24987" y="4436344"/>
            <a:ext cx="3732902" cy="1575866"/>
          </a:xfrm>
          <a:custGeom>
            <a:avLst/>
            <a:gdLst/>
            <a:ahLst/>
            <a:cxnLst/>
            <a:rect r="r" b="b" t="t" l="l"/>
            <a:pathLst>
              <a:path h="1575866" w="3732902">
                <a:moveTo>
                  <a:pt x="0" y="0"/>
                </a:moveTo>
                <a:lnTo>
                  <a:pt x="3732902" y="0"/>
                </a:lnTo>
                <a:lnTo>
                  <a:pt x="3732902" y="1575866"/>
                </a:lnTo>
                <a:lnTo>
                  <a:pt x="0" y="157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47834" y="7055822"/>
            <a:ext cx="3209036" cy="1642950"/>
          </a:xfrm>
          <a:custGeom>
            <a:avLst/>
            <a:gdLst/>
            <a:ahLst/>
            <a:cxnLst/>
            <a:rect r="r" b="b" t="t" l="l"/>
            <a:pathLst>
              <a:path h="1642950" w="3209036">
                <a:moveTo>
                  <a:pt x="0" y="0"/>
                </a:moveTo>
                <a:lnTo>
                  <a:pt x="3209036" y="0"/>
                </a:lnTo>
                <a:lnTo>
                  <a:pt x="3209036" y="1642950"/>
                </a:lnTo>
                <a:lnTo>
                  <a:pt x="0" y="164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78149" y="7055822"/>
            <a:ext cx="2857593" cy="1696120"/>
          </a:xfrm>
          <a:custGeom>
            <a:avLst/>
            <a:gdLst/>
            <a:ahLst/>
            <a:cxnLst/>
            <a:rect r="r" b="b" t="t" l="l"/>
            <a:pathLst>
              <a:path h="1696120" w="2857593">
                <a:moveTo>
                  <a:pt x="0" y="0"/>
                </a:moveTo>
                <a:lnTo>
                  <a:pt x="2857593" y="0"/>
                </a:lnTo>
                <a:lnTo>
                  <a:pt x="2857593" y="1696119"/>
                </a:lnTo>
                <a:lnTo>
                  <a:pt x="0" y="1696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93" t="-38397" r="-33687" b="-1757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4936" y="3954084"/>
            <a:ext cx="7337631" cy="4797858"/>
          </a:xfrm>
          <a:custGeom>
            <a:avLst/>
            <a:gdLst/>
            <a:ahLst/>
            <a:cxnLst/>
            <a:rect r="r" b="b" t="t" l="l"/>
            <a:pathLst>
              <a:path h="4797858" w="7337631">
                <a:moveTo>
                  <a:pt x="0" y="0"/>
                </a:moveTo>
                <a:lnTo>
                  <a:pt x="7337632" y="0"/>
                </a:lnTo>
                <a:lnTo>
                  <a:pt x="7337632" y="4797857"/>
                </a:lnTo>
                <a:lnTo>
                  <a:pt x="0" y="4797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309" t="-13970" r="-20634" b="-555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7362" y="3862814"/>
            <a:ext cx="421780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통합검색에 지역 입력 후 간편지도 검색 클릭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2222" y="3186318"/>
            <a:ext cx="300914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지역 설정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70950" y="5823892"/>
            <a:ext cx="7068757" cy="3461494"/>
          </a:xfrm>
          <a:custGeom>
            <a:avLst/>
            <a:gdLst/>
            <a:ahLst/>
            <a:cxnLst/>
            <a:rect r="r" b="b" t="t" l="l"/>
            <a:pathLst>
              <a:path h="3461494" w="7068757">
                <a:moveTo>
                  <a:pt x="0" y="0"/>
                </a:moveTo>
                <a:lnTo>
                  <a:pt x="7068757" y="0"/>
                </a:lnTo>
                <a:lnTo>
                  <a:pt x="7068757" y="3461494"/>
                </a:lnTo>
                <a:lnTo>
                  <a:pt x="0" y="3461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432" r="-262" b="-4737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45676" y="3814535"/>
            <a:ext cx="6158761" cy="1828382"/>
          </a:xfrm>
          <a:custGeom>
            <a:avLst/>
            <a:gdLst/>
            <a:ahLst/>
            <a:cxnLst/>
            <a:rect r="r" b="b" t="t" l="l"/>
            <a:pathLst>
              <a:path h="1828382" w="6158761">
                <a:moveTo>
                  <a:pt x="0" y="0"/>
                </a:moveTo>
                <a:lnTo>
                  <a:pt x="6158761" y="0"/>
                </a:lnTo>
                <a:lnTo>
                  <a:pt x="6158761" y="1828382"/>
                </a:lnTo>
                <a:lnTo>
                  <a:pt x="0" y="1828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01. 정사영상 다운 받기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69988" y="3322364"/>
            <a:ext cx="3767527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국토정보플랫폼 회원가입 후 로그인하기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212903"/>
            <a:ext cx="1710277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회원가입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7362" y="3212903"/>
            <a:ext cx="3147694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국토정보맵 접속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21284" y="3327383"/>
            <a:ext cx="4517917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상단 메뉴 [국토정보맵] → [통합지도검색] 클릭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062653" y="4053773"/>
            <a:ext cx="1028321" cy="493220"/>
            <a:chOff x="0" y="0"/>
            <a:chExt cx="270833" cy="1299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0833" cy="129902"/>
            </a:xfrm>
            <a:custGeom>
              <a:avLst/>
              <a:gdLst/>
              <a:ahLst/>
              <a:cxnLst/>
              <a:rect r="r" b="b" t="t" l="l"/>
              <a:pathLst>
                <a:path h="129902" w="270833">
                  <a:moveTo>
                    <a:pt x="0" y="0"/>
                  </a:moveTo>
                  <a:lnTo>
                    <a:pt x="270833" y="0"/>
                  </a:lnTo>
                  <a:lnTo>
                    <a:pt x="270833" y="129902"/>
                  </a:lnTo>
                  <a:lnTo>
                    <a:pt x="0" y="12990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0833" cy="16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39175" y="3876436"/>
            <a:ext cx="891996" cy="371993"/>
            <a:chOff x="0" y="0"/>
            <a:chExt cx="234929" cy="97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4929" cy="97973"/>
            </a:xfrm>
            <a:custGeom>
              <a:avLst/>
              <a:gdLst/>
              <a:ahLst/>
              <a:cxnLst/>
              <a:rect r="r" b="b" t="t" l="l"/>
              <a:pathLst>
                <a:path h="97973" w="234929">
                  <a:moveTo>
                    <a:pt x="0" y="0"/>
                  </a:moveTo>
                  <a:lnTo>
                    <a:pt x="234929" y="0"/>
                  </a:lnTo>
                  <a:lnTo>
                    <a:pt x="234929" y="97973"/>
                  </a:lnTo>
                  <a:lnTo>
                    <a:pt x="0" y="97973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34929" cy="136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39175" y="4728726"/>
            <a:ext cx="2433323" cy="344118"/>
            <a:chOff x="0" y="0"/>
            <a:chExt cx="640875" cy="906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875" cy="90632"/>
            </a:xfrm>
            <a:custGeom>
              <a:avLst/>
              <a:gdLst/>
              <a:ahLst/>
              <a:cxnLst/>
              <a:rect r="r" b="b" t="t" l="l"/>
              <a:pathLst>
                <a:path h="90632" w="640875">
                  <a:moveTo>
                    <a:pt x="0" y="0"/>
                  </a:moveTo>
                  <a:lnTo>
                    <a:pt x="640875" y="0"/>
                  </a:lnTo>
                  <a:lnTo>
                    <a:pt x="640875" y="90632"/>
                  </a:lnTo>
                  <a:lnTo>
                    <a:pt x="0" y="9063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40875" cy="12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044162" y="3900914"/>
            <a:ext cx="3018074" cy="1545181"/>
          </a:xfrm>
          <a:custGeom>
            <a:avLst/>
            <a:gdLst/>
            <a:ahLst/>
            <a:cxnLst/>
            <a:rect r="r" b="b" t="t" l="l"/>
            <a:pathLst>
              <a:path h="1545181" w="3018074">
                <a:moveTo>
                  <a:pt x="0" y="0"/>
                </a:moveTo>
                <a:lnTo>
                  <a:pt x="3018073" y="0"/>
                </a:lnTo>
                <a:lnTo>
                  <a:pt x="3018073" y="1545181"/>
                </a:lnTo>
                <a:lnTo>
                  <a:pt x="0" y="1545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4405" y="6012210"/>
            <a:ext cx="5580662" cy="3312393"/>
          </a:xfrm>
          <a:custGeom>
            <a:avLst/>
            <a:gdLst/>
            <a:ahLst/>
            <a:cxnLst/>
            <a:rect r="r" b="b" t="t" l="l"/>
            <a:pathLst>
              <a:path h="3312393" w="5580662">
                <a:moveTo>
                  <a:pt x="0" y="0"/>
                </a:moveTo>
                <a:lnTo>
                  <a:pt x="5580662" y="0"/>
                </a:lnTo>
                <a:lnTo>
                  <a:pt x="5580662" y="3312393"/>
                </a:lnTo>
                <a:lnTo>
                  <a:pt x="0" y="3312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893" t="-38397" r="-33687" b="-1757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3108" y="3954057"/>
            <a:ext cx="3482541" cy="1438894"/>
          </a:xfrm>
          <a:custGeom>
            <a:avLst/>
            <a:gdLst/>
            <a:ahLst/>
            <a:cxnLst/>
            <a:rect r="r" b="b" t="t" l="l"/>
            <a:pathLst>
              <a:path h="1438894" w="3482541">
                <a:moveTo>
                  <a:pt x="0" y="0"/>
                </a:moveTo>
                <a:lnTo>
                  <a:pt x="3482541" y="0"/>
                </a:lnTo>
                <a:lnTo>
                  <a:pt x="3482541" y="1438895"/>
                </a:lnTo>
                <a:lnTo>
                  <a:pt x="0" y="1438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01. 정사영상 다운 받기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13879" y="3289283"/>
            <a:ext cx="5811084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[통합검색] → [간편지도 검색] → [영역]  → [사각형] 선택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206285"/>
            <a:ext cx="300914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지역 설정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7711" y="5530366"/>
            <a:ext cx="3617938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⑤ 지도에서 다운 받고 싶은 영역 드래그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972123" y="4211010"/>
            <a:ext cx="7343835" cy="2714911"/>
          </a:xfrm>
          <a:custGeom>
            <a:avLst/>
            <a:gdLst/>
            <a:ahLst/>
            <a:cxnLst/>
            <a:rect r="r" b="b" t="t" l="l"/>
            <a:pathLst>
              <a:path h="2714911" w="7343835">
                <a:moveTo>
                  <a:pt x="0" y="0"/>
                </a:moveTo>
                <a:lnTo>
                  <a:pt x="7343835" y="0"/>
                </a:lnTo>
                <a:lnTo>
                  <a:pt x="7343835" y="2714911"/>
                </a:lnTo>
                <a:lnTo>
                  <a:pt x="0" y="271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77362" y="7478371"/>
            <a:ext cx="5765852" cy="1133814"/>
          </a:xfrm>
          <a:custGeom>
            <a:avLst/>
            <a:gdLst/>
            <a:ahLst/>
            <a:cxnLst/>
            <a:rect r="r" b="b" t="t" l="l"/>
            <a:pathLst>
              <a:path h="1133814" w="5765852">
                <a:moveTo>
                  <a:pt x="0" y="0"/>
                </a:moveTo>
                <a:lnTo>
                  <a:pt x="5765852" y="0"/>
                </a:lnTo>
                <a:lnTo>
                  <a:pt x="5765852" y="1133814"/>
                </a:lnTo>
                <a:lnTo>
                  <a:pt x="0" y="113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991" r="-22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52352" y="3298808"/>
            <a:ext cx="6226722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[정사영상] → 원하는 년도의 정사영상을 선택 후,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다운로드 버튼 누르기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7362" y="3206285"/>
            <a:ext cx="3251604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정사영상 선택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242854" y="6328178"/>
            <a:ext cx="1434865" cy="307442"/>
            <a:chOff x="0" y="0"/>
            <a:chExt cx="377907" cy="809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907" cy="80972"/>
            </a:xfrm>
            <a:custGeom>
              <a:avLst/>
              <a:gdLst/>
              <a:ahLst/>
              <a:cxnLst/>
              <a:rect r="r" b="b" t="t" l="l"/>
              <a:pathLst>
                <a:path h="80972" w="377907">
                  <a:moveTo>
                    <a:pt x="0" y="0"/>
                  </a:moveTo>
                  <a:lnTo>
                    <a:pt x="377907" y="0"/>
                  </a:lnTo>
                  <a:lnTo>
                    <a:pt x="377907" y="80972"/>
                  </a:lnTo>
                  <a:lnTo>
                    <a:pt x="0" y="8097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7907" cy="119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94456" y="4673505"/>
            <a:ext cx="941730" cy="325934"/>
            <a:chOff x="0" y="0"/>
            <a:chExt cx="248028" cy="858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028" cy="85843"/>
            </a:xfrm>
            <a:custGeom>
              <a:avLst/>
              <a:gdLst/>
              <a:ahLst/>
              <a:cxnLst/>
              <a:rect r="r" b="b" t="t" l="l"/>
              <a:pathLst>
                <a:path h="85843" w="248028">
                  <a:moveTo>
                    <a:pt x="0" y="0"/>
                  </a:moveTo>
                  <a:lnTo>
                    <a:pt x="248028" y="0"/>
                  </a:lnTo>
                  <a:lnTo>
                    <a:pt x="248028" y="85843"/>
                  </a:lnTo>
                  <a:lnTo>
                    <a:pt x="0" y="85843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8028" cy="123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508942" y="4936804"/>
            <a:ext cx="1276707" cy="358547"/>
            <a:chOff x="0" y="0"/>
            <a:chExt cx="336252" cy="94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6252" cy="94432"/>
            </a:xfrm>
            <a:custGeom>
              <a:avLst/>
              <a:gdLst/>
              <a:ahLst/>
              <a:cxnLst/>
              <a:rect r="r" b="b" t="t" l="l"/>
              <a:pathLst>
                <a:path h="94432" w="336252">
                  <a:moveTo>
                    <a:pt x="0" y="0"/>
                  </a:moveTo>
                  <a:lnTo>
                    <a:pt x="336252" y="0"/>
                  </a:lnTo>
                  <a:lnTo>
                    <a:pt x="336252" y="94432"/>
                  </a:lnTo>
                  <a:lnTo>
                    <a:pt x="0" y="9443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36252" cy="132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42854" y="4385495"/>
            <a:ext cx="2362475" cy="376907"/>
            <a:chOff x="0" y="0"/>
            <a:chExt cx="622216" cy="992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216" cy="99268"/>
            </a:xfrm>
            <a:custGeom>
              <a:avLst/>
              <a:gdLst/>
              <a:ahLst/>
              <a:cxnLst/>
              <a:rect r="r" b="b" t="t" l="l"/>
              <a:pathLst>
                <a:path h="99268" w="622216">
                  <a:moveTo>
                    <a:pt x="0" y="0"/>
                  </a:moveTo>
                  <a:lnTo>
                    <a:pt x="622216" y="0"/>
                  </a:lnTo>
                  <a:lnTo>
                    <a:pt x="622216" y="99268"/>
                  </a:lnTo>
                  <a:lnTo>
                    <a:pt x="0" y="9926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22216" cy="137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03528" y="4038621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70172" y="4943689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②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00371" y="4267270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52771" y="4675111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④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04519" y="3886381"/>
            <a:ext cx="6759388" cy="5254146"/>
          </a:xfrm>
          <a:custGeom>
            <a:avLst/>
            <a:gdLst/>
            <a:ahLst/>
            <a:cxnLst/>
            <a:rect r="r" b="b" t="t" l="l"/>
            <a:pathLst>
              <a:path h="5254146" w="6759388">
                <a:moveTo>
                  <a:pt x="0" y="0"/>
                </a:moveTo>
                <a:lnTo>
                  <a:pt x="6759388" y="0"/>
                </a:lnTo>
                <a:lnTo>
                  <a:pt x="6759388" y="5254146"/>
                </a:lnTo>
                <a:lnTo>
                  <a:pt x="0" y="525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24664" y="3886381"/>
            <a:ext cx="7510198" cy="566245"/>
          </a:xfrm>
          <a:custGeom>
            <a:avLst/>
            <a:gdLst/>
            <a:ahLst/>
            <a:cxnLst/>
            <a:rect r="r" b="b" t="t" l="l"/>
            <a:pathLst>
              <a:path h="566245" w="7510198">
                <a:moveTo>
                  <a:pt x="0" y="0"/>
                </a:moveTo>
                <a:lnTo>
                  <a:pt x="7510199" y="0"/>
                </a:lnTo>
                <a:lnTo>
                  <a:pt x="7510199" y="566245"/>
                </a:lnTo>
                <a:lnTo>
                  <a:pt x="0" y="56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77523" y="4833275"/>
            <a:ext cx="7081777" cy="3820172"/>
          </a:xfrm>
          <a:custGeom>
            <a:avLst/>
            <a:gdLst/>
            <a:ahLst/>
            <a:cxnLst/>
            <a:rect r="r" b="b" t="t" l="l"/>
            <a:pathLst>
              <a:path h="3820172" w="7081777">
                <a:moveTo>
                  <a:pt x="0" y="0"/>
                </a:moveTo>
                <a:lnTo>
                  <a:pt x="7081777" y="0"/>
                </a:lnTo>
                <a:lnTo>
                  <a:pt x="7081777" y="3820173"/>
                </a:lnTo>
                <a:lnTo>
                  <a:pt x="0" y="3820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7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01. 정사영상 다운 받기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08163" y="3288265"/>
            <a:ext cx="3549017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사용 목적, 분석 용도 입력 후 다운로드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206285"/>
            <a:ext cx="300914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다운로드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4554" y="3288265"/>
            <a:ext cx="422442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다운 받은 정사영상을 QGIS에 불러와서 확인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3905" y="3206285"/>
            <a:ext cx="300914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 정사영상 확인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02486" y="5838194"/>
            <a:ext cx="6375107" cy="1630743"/>
            <a:chOff x="0" y="0"/>
            <a:chExt cx="1679041" cy="4294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79041" cy="429496"/>
            </a:xfrm>
            <a:custGeom>
              <a:avLst/>
              <a:gdLst/>
              <a:ahLst/>
              <a:cxnLst/>
              <a:rect r="r" b="b" t="t" l="l"/>
              <a:pathLst>
                <a:path h="429496" w="1679041">
                  <a:moveTo>
                    <a:pt x="0" y="0"/>
                  </a:moveTo>
                  <a:lnTo>
                    <a:pt x="1679041" y="0"/>
                  </a:lnTo>
                  <a:lnTo>
                    <a:pt x="1679041" y="429496"/>
                  </a:lnTo>
                  <a:lnTo>
                    <a:pt x="0" y="429496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79041" cy="467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4282" y="8291897"/>
            <a:ext cx="6290608" cy="800773"/>
          </a:xfrm>
          <a:custGeom>
            <a:avLst/>
            <a:gdLst/>
            <a:ahLst/>
            <a:cxnLst/>
            <a:rect r="r" b="b" t="t" l="l"/>
            <a:pathLst>
              <a:path h="800773" w="6290608">
                <a:moveTo>
                  <a:pt x="0" y="0"/>
                </a:moveTo>
                <a:lnTo>
                  <a:pt x="6290609" y="0"/>
                </a:lnTo>
                <a:lnTo>
                  <a:pt x="6290609" y="800773"/>
                </a:lnTo>
                <a:lnTo>
                  <a:pt x="0" y="800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131" r="0" b="-21756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4282" y="4170884"/>
            <a:ext cx="6290608" cy="3920149"/>
          </a:xfrm>
          <a:custGeom>
            <a:avLst/>
            <a:gdLst/>
            <a:ahLst/>
            <a:cxnLst/>
            <a:rect r="r" b="b" t="t" l="l"/>
            <a:pathLst>
              <a:path h="3920149" w="6290608">
                <a:moveTo>
                  <a:pt x="0" y="0"/>
                </a:moveTo>
                <a:lnTo>
                  <a:pt x="6290609" y="0"/>
                </a:lnTo>
                <a:lnTo>
                  <a:pt x="6290609" y="3920148"/>
                </a:lnTo>
                <a:lnTo>
                  <a:pt x="0" y="39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459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10669" y="4008744"/>
            <a:ext cx="7058107" cy="4683539"/>
          </a:xfrm>
          <a:custGeom>
            <a:avLst/>
            <a:gdLst/>
            <a:ahLst/>
            <a:cxnLst/>
            <a:rect r="r" b="b" t="t" l="l"/>
            <a:pathLst>
              <a:path h="4683539" w="7058107">
                <a:moveTo>
                  <a:pt x="0" y="0"/>
                </a:moveTo>
                <a:lnTo>
                  <a:pt x="7058107" y="0"/>
                </a:lnTo>
                <a:lnTo>
                  <a:pt x="7058107" y="4683539"/>
                </a:lnTo>
                <a:lnTo>
                  <a:pt x="0" y="468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1852" y="3297790"/>
            <a:ext cx="4207111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[레이어] (우클릭) → [속성] → [정보] 에서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정사영상의 좌표계를 확인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206285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정사영상 좌표계 확인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6820" y="3297790"/>
            <a:ext cx="446403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[탐색기] → [XYZ Tiles] → [VWorld Satellite]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3905" y="3206285"/>
            <a:ext cx="3857744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배경지도 불러오기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7946" y="9220200"/>
            <a:ext cx="4207111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좌표계가 부여되지 않은 것을 확인할 수 있음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30802" y="8920281"/>
            <a:ext cx="260043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정사영상 위치로 이동 및 확대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147337" y="7746914"/>
            <a:ext cx="3377553" cy="344118"/>
            <a:chOff x="0" y="0"/>
            <a:chExt cx="889561" cy="90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9561" cy="90632"/>
            </a:xfrm>
            <a:custGeom>
              <a:avLst/>
              <a:gdLst/>
              <a:ahLst/>
              <a:cxnLst/>
              <a:rect r="r" b="b" t="t" l="l"/>
              <a:pathLst>
                <a:path h="90632" w="889561">
                  <a:moveTo>
                    <a:pt x="0" y="0"/>
                  </a:moveTo>
                  <a:lnTo>
                    <a:pt x="889561" y="0"/>
                  </a:lnTo>
                  <a:lnTo>
                    <a:pt x="889561" y="90632"/>
                  </a:lnTo>
                  <a:lnTo>
                    <a:pt x="0" y="9063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89561" cy="12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07946" y="8882380"/>
            <a:ext cx="4041701" cy="287051"/>
            <a:chOff x="0" y="0"/>
            <a:chExt cx="1064481" cy="756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4481" cy="75602"/>
            </a:xfrm>
            <a:custGeom>
              <a:avLst/>
              <a:gdLst/>
              <a:ahLst/>
              <a:cxnLst/>
              <a:rect r="r" b="b" t="t" l="l"/>
              <a:pathLst>
                <a:path h="75602" w="1064481">
                  <a:moveTo>
                    <a:pt x="0" y="0"/>
                  </a:moveTo>
                  <a:lnTo>
                    <a:pt x="1064481" y="0"/>
                  </a:lnTo>
                  <a:lnTo>
                    <a:pt x="1064481" y="75602"/>
                  </a:lnTo>
                  <a:lnTo>
                    <a:pt x="0" y="7560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64481" cy="11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10669" y="4689508"/>
            <a:ext cx="1392005" cy="767419"/>
            <a:chOff x="0" y="0"/>
            <a:chExt cx="366619" cy="2021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6619" cy="202118"/>
            </a:xfrm>
            <a:custGeom>
              <a:avLst/>
              <a:gdLst/>
              <a:ahLst/>
              <a:cxnLst/>
              <a:rect r="r" b="b" t="t" l="l"/>
              <a:pathLst>
                <a:path h="202118" w="366619">
                  <a:moveTo>
                    <a:pt x="0" y="0"/>
                  </a:moveTo>
                  <a:lnTo>
                    <a:pt x="366619" y="0"/>
                  </a:lnTo>
                  <a:lnTo>
                    <a:pt x="366619" y="202118"/>
                  </a:lnTo>
                  <a:lnTo>
                    <a:pt x="0" y="20211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6619" cy="24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26394" y="4790501"/>
            <a:ext cx="3879936" cy="2593460"/>
          </a:xfrm>
          <a:custGeom>
            <a:avLst/>
            <a:gdLst/>
            <a:ahLst/>
            <a:cxnLst/>
            <a:rect r="r" b="b" t="t" l="l"/>
            <a:pathLst>
              <a:path h="2593460" w="3879936">
                <a:moveTo>
                  <a:pt x="0" y="0"/>
                </a:moveTo>
                <a:lnTo>
                  <a:pt x="3879935" y="0"/>
                </a:lnTo>
                <a:lnTo>
                  <a:pt x="3879935" y="2593461"/>
                </a:lnTo>
                <a:lnTo>
                  <a:pt x="0" y="2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900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49676" y="6028751"/>
            <a:ext cx="5094002" cy="2989146"/>
          </a:xfrm>
          <a:custGeom>
            <a:avLst/>
            <a:gdLst/>
            <a:ahLst/>
            <a:cxnLst/>
            <a:rect r="r" b="b" t="t" l="l"/>
            <a:pathLst>
              <a:path h="2989146" w="5094002">
                <a:moveTo>
                  <a:pt x="0" y="0"/>
                </a:moveTo>
                <a:lnTo>
                  <a:pt x="5094002" y="0"/>
                </a:lnTo>
                <a:lnTo>
                  <a:pt x="5094002" y="2989146"/>
                </a:lnTo>
                <a:lnTo>
                  <a:pt x="0" y="2989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61885" y="5417236"/>
            <a:ext cx="5672923" cy="3933451"/>
          </a:xfrm>
          <a:custGeom>
            <a:avLst/>
            <a:gdLst/>
            <a:ahLst/>
            <a:cxnLst/>
            <a:rect r="r" b="b" t="t" l="l"/>
            <a:pathLst>
              <a:path h="3933451" w="5672923">
                <a:moveTo>
                  <a:pt x="0" y="0"/>
                </a:moveTo>
                <a:lnTo>
                  <a:pt x="5672923" y="0"/>
                </a:lnTo>
                <a:lnTo>
                  <a:pt x="5672923" y="3933451"/>
                </a:lnTo>
                <a:lnTo>
                  <a:pt x="0" y="3933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30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61885" y="4011740"/>
            <a:ext cx="5672923" cy="1263028"/>
          </a:xfrm>
          <a:custGeom>
            <a:avLst/>
            <a:gdLst/>
            <a:ahLst/>
            <a:cxnLst/>
            <a:rect r="r" b="b" t="t" l="l"/>
            <a:pathLst>
              <a:path h="1263028" w="5672923">
                <a:moveTo>
                  <a:pt x="0" y="0"/>
                </a:moveTo>
                <a:lnTo>
                  <a:pt x="5672923" y="0"/>
                </a:lnTo>
                <a:lnTo>
                  <a:pt x="5672923" y="1263029"/>
                </a:lnTo>
                <a:lnTo>
                  <a:pt x="0" y="1263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06511" y="4491910"/>
            <a:ext cx="669193" cy="651590"/>
            <a:chOff x="0" y="0"/>
            <a:chExt cx="176248" cy="1716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248" cy="171612"/>
            </a:xfrm>
            <a:custGeom>
              <a:avLst/>
              <a:gdLst/>
              <a:ahLst/>
              <a:cxnLst/>
              <a:rect r="r" b="b" t="t" l="l"/>
              <a:pathLst>
                <a:path h="171612" w="176248">
                  <a:moveTo>
                    <a:pt x="0" y="0"/>
                  </a:moveTo>
                  <a:lnTo>
                    <a:pt x="176248" y="0"/>
                  </a:lnTo>
                  <a:lnTo>
                    <a:pt x="176248" y="171612"/>
                  </a:lnTo>
                  <a:lnTo>
                    <a:pt x="0" y="17161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248" cy="209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52536" y="3328888"/>
            <a:ext cx="318533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[레이어 탭] → [지리참조자] 클릭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7790" y="3893301"/>
            <a:ext cx="5765756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u="sng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지리참조자(georeferencer)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좌표 정보가 없는 래스터 이미지에 실제 좌표를 부여하는 기능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206285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지리참조자 실행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1702" y="3387294"/>
            <a:ext cx="469202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[래스터 열기] → 저장경로에 저장된 정사영상 열기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2920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정사영상 열기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8348" y="6472374"/>
            <a:ext cx="2171327" cy="344118"/>
            <a:chOff x="0" y="0"/>
            <a:chExt cx="571872" cy="906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872" cy="90632"/>
            </a:xfrm>
            <a:custGeom>
              <a:avLst/>
              <a:gdLst/>
              <a:ahLst/>
              <a:cxnLst/>
              <a:rect r="r" b="b" t="t" l="l"/>
              <a:pathLst>
                <a:path h="90632" w="571872">
                  <a:moveTo>
                    <a:pt x="0" y="0"/>
                  </a:moveTo>
                  <a:lnTo>
                    <a:pt x="571872" y="0"/>
                  </a:lnTo>
                  <a:lnTo>
                    <a:pt x="571872" y="90632"/>
                  </a:lnTo>
                  <a:lnTo>
                    <a:pt x="0" y="9063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71872" cy="12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5053" y="4880917"/>
            <a:ext cx="769209" cy="291158"/>
            <a:chOff x="0" y="0"/>
            <a:chExt cx="202590" cy="766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590" cy="76684"/>
            </a:xfrm>
            <a:custGeom>
              <a:avLst/>
              <a:gdLst/>
              <a:ahLst/>
              <a:cxnLst/>
              <a:rect r="r" b="b" t="t" l="l"/>
              <a:pathLst>
                <a:path h="76684" w="202590">
                  <a:moveTo>
                    <a:pt x="0" y="0"/>
                  </a:moveTo>
                  <a:lnTo>
                    <a:pt x="202590" y="0"/>
                  </a:lnTo>
                  <a:lnTo>
                    <a:pt x="202590" y="76684"/>
                  </a:lnTo>
                  <a:lnTo>
                    <a:pt x="0" y="7668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590" cy="114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45153" y="5376994"/>
            <a:ext cx="5227024" cy="3649837"/>
          </a:xfrm>
          <a:custGeom>
            <a:avLst/>
            <a:gdLst/>
            <a:ahLst/>
            <a:cxnLst/>
            <a:rect r="r" b="b" t="t" l="l"/>
            <a:pathLst>
              <a:path h="3649837" w="5227024">
                <a:moveTo>
                  <a:pt x="0" y="0"/>
                </a:moveTo>
                <a:lnTo>
                  <a:pt x="5227024" y="0"/>
                </a:lnTo>
                <a:lnTo>
                  <a:pt x="5227024" y="3649837"/>
                </a:lnTo>
                <a:lnTo>
                  <a:pt x="0" y="3649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121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5153" y="4008270"/>
            <a:ext cx="4479168" cy="997249"/>
          </a:xfrm>
          <a:custGeom>
            <a:avLst/>
            <a:gdLst/>
            <a:ahLst/>
            <a:cxnLst/>
            <a:rect r="r" b="b" t="t" l="l"/>
            <a:pathLst>
              <a:path h="997249" w="4479168">
                <a:moveTo>
                  <a:pt x="0" y="0"/>
                </a:moveTo>
                <a:lnTo>
                  <a:pt x="4479168" y="0"/>
                </a:lnTo>
                <a:lnTo>
                  <a:pt x="4479168" y="997249"/>
                </a:lnTo>
                <a:lnTo>
                  <a:pt x="0" y="997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66333" y="4682232"/>
            <a:ext cx="5976784" cy="4576068"/>
          </a:xfrm>
          <a:custGeom>
            <a:avLst/>
            <a:gdLst/>
            <a:ahLst/>
            <a:cxnLst/>
            <a:rect r="r" b="b" t="t" l="l"/>
            <a:pathLst>
              <a:path h="4576068" w="5976784">
                <a:moveTo>
                  <a:pt x="0" y="0"/>
                </a:moveTo>
                <a:lnTo>
                  <a:pt x="5976783" y="0"/>
                </a:lnTo>
                <a:lnTo>
                  <a:pt x="5976783" y="4576068"/>
                </a:lnTo>
                <a:lnTo>
                  <a:pt x="0" y="4576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65395" y="3328888"/>
            <a:ext cx="4837967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[변환 설정] → 다음과 같이 설정 후 확인 버튼 누르기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206285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변환 설정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2920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6.0 GCP(기준점) 추가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10199" y="7515473"/>
            <a:ext cx="3712279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경로 지정 / 파일 이름 설정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9774" y="6779429"/>
            <a:ext cx="3147293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Vworld에서 사용하는 'EPSG:3857' 선택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3684" y="8317291"/>
            <a:ext cx="827350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452738" y="6131757"/>
            <a:ext cx="4359572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인접한 화소 값을 선형으로 보간하여 변환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9080" y="8674433"/>
            <a:ext cx="5138895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원본 픽셀 값을 유지하며 리샘플링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05329" y="3347350"/>
            <a:ext cx="2794411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[GCP 포인트 추가]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66333" y="3838058"/>
            <a:ext cx="7141298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GCP(Ground Control Point)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지리참조를 위해 정사영상과 배경지도의 동일한 위치를 연결하는 기준점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185023" y="4328292"/>
            <a:ext cx="739298" cy="677226"/>
            <a:chOff x="0" y="0"/>
            <a:chExt cx="194712" cy="1783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4712" cy="178364"/>
            </a:xfrm>
            <a:custGeom>
              <a:avLst/>
              <a:gdLst/>
              <a:ahLst/>
              <a:cxnLst/>
              <a:rect r="r" b="b" t="t" l="l"/>
              <a:pathLst>
                <a:path h="178364" w="194712">
                  <a:moveTo>
                    <a:pt x="0" y="0"/>
                  </a:moveTo>
                  <a:lnTo>
                    <a:pt x="194712" y="0"/>
                  </a:lnTo>
                  <a:lnTo>
                    <a:pt x="194712" y="178364"/>
                  </a:lnTo>
                  <a:lnTo>
                    <a:pt x="0" y="17836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4712" cy="216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00513" y="4953564"/>
            <a:ext cx="261186" cy="255610"/>
            <a:chOff x="0" y="0"/>
            <a:chExt cx="68790" cy="673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90" cy="67321"/>
            </a:xfrm>
            <a:custGeom>
              <a:avLst/>
              <a:gdLst/>
              <a:ahLst/>
              <a:cxnLst/>
              <a:rect r="r" b="b" t="t" l="l"/>
              <a:pathLst>
                <a:path h="67321" w="68790">
                  <a:moveTo>
                    <a:pt x="0" y="0"/>
                  </a:moveTo>
                  <a:lnTo>
                    <a:pt x="68790" y="0"/>
                  </a:lnTo>
                  <a:lnTo>
                    <a:pt x="68790" y="67321"/>
                  </a:lnTo>
                  <a:lnTo>
                    <a:pt x="0" y="67321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790" cy="105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3684" y="8317291"/>
            <a:ext cx="827350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972123" y="4008270"/>
            <a:ext cx="5151323" cy="5312612"/>
          </a:xfrm>
          <a:custGeom>
            <a:avLst/>
            <a:gdLst/>
            <a:ahLst/>
            <a:cxnLst/>
            <a:rect r="r" b="b" t="t" l="l"/>
            <a:pathLst>
              <a:path h="5312612" w="5151323">
                <a:moveTo>
                  <a:pt x="0" y="0"/>
                </a:moveTo>
                <a:lnTo>
                  <a:pt x="5151323" y="0"/>
                </a:lnTo>
                <a:lnTo>
                  <a:pt x="5151323" y="5312611"/>
                </a:lnTo>
                <a:lnTo>
                  <a:pt x="0" y="5312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1284" b="-978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78218" y="7544413"/>
            <a:ext cx="3763862" cy="1776469"/>
          </a:xfrm>
          <a:custGeom>
            <a:avLst/>
            <a:gdLst/>
            <a:ahLst/>
            <a:cxnLst/>
            <a:rect r="r" b="b" t="t" l="l"/>
            <a:pathLst>
              <a:path h="1776469" w="3763862">
                <a:moveTo>
                  <a:pt x="0" y="0"/>
                </a:moveTo>
                <a:lnTo>
                  <a:pt x="3763862" y="0"/>
                </a:lnTo>
                <a:lnTo>
                  <a:pt x="3763862" y="1776468"/>
                </a:lnTo>
                <a:lnTo>
                  <a:pt x="0" y="177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3" t="0" r="-168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7903" y="4050794"/>
            <a:ext cx="4960582" cy="5270088"/>
          </a:xfrm>
          <a:custGeom>
            <a:avLst/>
            <a:gdLst/>
            <a:ahLst/>
            <a:cxnLst/>
            <a:rect r="r" b="b" t="t" l="l"/>
            <a:pathLst>
              <a:path h="5270088" w="4960582">
                <a:moveTo>
                  <a:pt x="0" y="0"/>
                </a:moveTo>
                <a:lnTo>
                  <a:pt x="4960582" y="0"/>
                </a:lnTo>
                <a:lnTo>
                  <a:pt x="4960582" y="5270087"/>
                </a:lnTo>
                <a:lnTo>
                  <a:pt x="0" y="5270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679" t="0" r="0" b="-678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72085" y="7281273"/>
            <a:ext cx="4227302" cy="1977027"/>
          </a:xfrm>
          <a:custGeom>
            <a:avLst/>
            <a:gdLst/>
            <a:ahLst/>
            <a:cxnLst/>
            <a:rect r="r" b="b" t="t" l="l"/>
            <a:pathLst>
              <a:path h="1977027" w="4227302">
                <a:moveTo>
                  <a:pt x="0" y="0"/>
                </a:moveTo>
                <a:lnTo>
                  <a:pt x="4227302" y="0"/>
                </a:lnTo>
                <a:lnTo>
                  <a:pt x="4227302" y="1977027"/>
                </a:lnTo>
                <a:lnTo>
                  <a:pt x="0" y="1977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178457" y="5489413"/>
            <a:ext cx="3674921" cy="456400"/>
            <a:chOff x="0" y="0"/>
            <a:chExt cx="967881" cy="1202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7881" cy="120204"/>
            </a:xfrm>
            <a:custGeom>
              <a:avLst/>
              <a:gdLst/>
              <a:ahLst/>
              <a:cxnLst/>
              <a:rect r="r" b="b" t="t" l="l"/>
              <a:pathLst>
                <a:path h="120204" w="967881">
                  <a:moveTo>
                    <a:pt x="0" y="0"/>
                  </a:moveTo>
                  <a:lnTo>
                    <a:pt x="967881" y="0"/>
                  </a:lnTo>
                  <a:lnTo>
                    <a:pt x="967881" y="120204"/>
                  </a:lnTo>
                  <a:lnTo>
                    <a:pt x="0" y="120204"/>
                  </a:lnTo>
                  <a:close/>
                </a:path>
              </a:pathLst>
            </a:custGeom>
            <a:solidFill>
              <a:srgbClr val="FDFD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7881" cy="158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22920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6.2. GCP(기준점) 추가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79487" y="3422554"/>
            <a:ext cx="199037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VWorld 배경지도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9757" y="5545224"/>
            <a:ext cx="3964655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① 정사영상을 확대하여 기준점을 선택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6057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6.1. GCP(기준점) 추가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14315" y="3423233"/>
            <a:ext cx="199037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지리참조자 정사영상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92649" y="5872775"/>
            <a:ext cx="223908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94688" y="6559038"/>
            <a:ext cx="223908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218596" y="6109885"/>
            <a:ext cx="3972046" cy="456400"/>
            <a:chOff x="0" y="0"/>
            <a:chExt cx="1046136" cy="1202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6136" cy="120204"/>
            </a:xfrm>
            <a:custGeom>
              <a:avLst/>
              <a:gdLst/>
              <a:ahLst/>
              <a:cxnLst/>
              <a:rect r="r" b="b" t="t" l="l"/>
              <a:pathLst>
                <a:path h="120204" w="1046136">
                  <a:moveTo>
                    <a:pt x="0" y="0"/>
                  </a:moveTo>
                  <a:lnTo>
                    <a:pt x="1046136" y="0"/>
                  </a:lnTo>
                  <a:lnTo>
                    <a:pt x="1046136" y="120204"/>
                  </a:lnTo>
                  <a:lnTo>
                    <a:pt x="0" y="120204"/>
                  </a:lnTo>
                  <a:close/>
                </a:path>
              </a:pathLst>
            </a:custGeom>
            <a:solidFill>
              <a:srgbClr val="FDFDF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6136" cy="158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329896" y="6165696"/>
            <a:ext cx="3964655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③ 배경지도를 확대하여 동일한 위치 선택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805528" y="8929592"/>
            <a:ext cx="982428" cy="250776"/>
            <a:chOff x="0" y="0"/>
            <a:chExt cx="258746" cy="660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8746" cy="66048"/>
            </a:xfrm>
            <a:custGeom>
              <a:avLst/>
              <a:gdLst/>
              <a:ahLst/>
              <a:cxnLst/>
              <a:rect r="r" b="b" t="t" l="l"/>
              <a:pathLst>
                <a:path h="66048" w="258746">
                  <a:moveTo>
                    <a:pt x="0" y="0"/>
                  </a:moveTo>
                  <a:lnTo>
                    <a:pt x="258746" y="0"/>
                  </a:lnTo>
                  <a:lnTo>
                    <a:pt x="258746" y="66048"/>
                  </a:lnTo>
                  <a:lnTo>
                    <a:pt x="0" y="6604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8746" cy="10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592130" y="9058444"/>
            <a:ext cx="622058" cy="199856"/>
            <a:chOff x="0" y="0"/>
            <a:chExt cx="163834" cy="526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3834" cy="52637"/>
            </a:xfrm>
            <a:custGeom>
              <a:avLst/>
              <a:gdLst/>
              <a:ahLst/>
              <a:cxnLst/>
              <a:rect r="r" b="b" t="t" l="l"/>
              <a:pathLst>
                <a:path h="52637" w="163834">
                  <a:moveTo>
                    <a:pt x="0" y="0"/>
                  </a:moveTo>
                  <a:lnTo>
                    <a:pt x="163834" y="0"/>
                  </a:lnTo>
                  <a:lnTo>
                    <a:pt x="163834" y="52637"/>
                  </a:lnTo>
                  <a:lnTo>
                    <a:pt x="0" y="52637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3834" cy="9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805528" y="8603864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②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70700" y="8751766"/>
            <a:ext cx="19915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④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70779" y="7369908"/>
            <a:ext cx="6678831" cy="1853009"/>
          </a:xfrm>
          <a:custGeom>
            <a:avLst/>
            <a:gdLst/>
            <a:ahLst/>
            <a:cxnLst/>
            <a:rect r="r" b="b" t="t" l="l"/>
            <a:pathLst>
              <a:path h="1853009" w="6678831">
                <a:moveTo>
                  <a:pt x="0" y="0"/>
                </a:moveTo>
                <a:lnTo>
                  <a:pt x="6678831" y="0"/>
                </a:lnTo>
                <a:lnTo>
                  <a:pt x="6678831" y="1853010"/>
                </a:lnTo>
                <a:lnTo>
                  <a:pt x="0" y="1853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5" r="-1113" b="-1631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0779" y="3959425"/>
            <a:ext cx="6452449" cy="3177588"/>
          </a:xfrm>
          <a:custGeom>
            <a:avLst/>
            <a:gdLst/>
            <a:ahLst/>
            <a:cxnLst/>
            <a:rect r="r" b="b" t="t" l="l"/>
            <a:pathLst>
              <a:path h="3177588" w="6452449">
                <a:moveTo>
                  <a:pt x="0" y="0"/>
                </a:moveTo>
                <a:lnTo>
                  <a:pt x="6452449" y="0"/>
                </a:lnTo>
                <a:lnTo>
                  <a:pt x="6452449" y="3177588"/>
                </a:lnTo>
                <a:lnTo>
                  <a:pt x="0" y="317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48" t="-21532" r="0" b="-1376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3684" y="8317291"/>
            <a:ext cx="8273503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2920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8. 지오레퍼런싱 시작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67851" y="3414623"/>
            <a:ext cx="3427789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[파일] → [지오레퍼런싱 시작]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057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7. GCP(기준점) 추가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82671" y="3387294"/>
            <a:ext cx="249260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GCP point 3개 이상 찍기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02751" y="4885406"/>
            <a:ext cx="223908" cy="2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9856" y="4797115"/>
            <a:ext cx="223908" cy="2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2973" y="6068450"/>
            <a:ext cx="223908" cy="2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02687" y="6175792"/>
            <a:ext cx="223908" cy="2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180298" y="3959425"/>
            <a:ext cx="6397754" cy="3884987"/>
          </a:xfrm>
          <a:custGeom>
            <a:avLst/>
            <a:gdLst/>
            <a:ahLst/>
            <a:cxnLst/>
            <a:rect r="r" b="b" t="t" l="l"/>
            <a:pathLst>
              <a:path h="3884987" w="6397754">
                <a:moveTo>
                  <a:pt x="0" y="0"/>
                </a:moveTo>
                <a:lnTo>
                  <a:pt x="6397754" y="0"/>
                </a:lnTo>
                <a:lnTo>
                  <a:pt x="6397754" y="3884987"/>
                </a:lnTo>
                <a:lnTo>
                  <a:pt x="0" y="388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180298" y="5631025"/>
            <a:ext cx="6375107" cy="465999"/>
            <a:chOff x="0" y="0"/>
            <a:chExt cx="1679041" cy="1227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9041" cy="122732"/>
            </a:xfrm>
            <a:custGeom>
              <a:avLst/>
              <a:gdLst/>
              <a:ahLst/>
              <a:cxnLst/>
              <a:rect r="r" b="b" t="t" l="l"/>
              <a:pathLst>
                <a:path h="122732" w="1679041">
                  <a:moveTo>
                    <a:pt x="0" y="0"/>
                  </a:moveTo>
                  <a:lnTo>
                    <a:pt x="1679041" y="0"/>
                  </a:lnTo>
                  <a:lnTo>
                    <a:pt x="1679041" y="122732"/>
                  </a:lnTo>
                  <a:lnTo>
                    <a:pt x="0" y="12273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79041" cy="160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68577" y="2914534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36790" y="7794916"/>
            <a:ext cx="6037762" cy="1679833"/>
          </a:xfrm>
          <a:custGeom>
            <a:avLst/>
            <a:gdLst/>
            <a:ahLst/>
            <a:cxnLst/>
            <a:rect r="r" b="b" t="t" l="l"/>
            <a:pathLst>
              <a:path h="1679833" w="6037762">
                <a:moveTo>
                  <a:pt x="0" y="0"/>
                </a:moveTo>
                <a:lnTo>
                  <a:pt x="6037762" y="0"/>
                </a:lnTo>
                <a:lnTo>
                  <a:pt x="6037762" y="1679834"/>
                </a:lnTo>
                <a:lnTo>
                  <a:pt x="0" y="1679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6790" y="3959425"/>
            <a:ext cx="4091644" cy="3606891"/>
          </a:xfrm>
          <a:custGeom>
            <a:avLst/>
            <a:gdLst/>
            <a:ahLst/>
            <a:cxnLst/>
            <a:rect r="r" b="b" t="t" l="l"/>
            <a:pathLst>
              <a:path h="3606891" w="4091644">
                <a:moveTo>
                  <a:pt x="0" y="0"/>
                </a:moveTo>
                <a:lnTo>
                  <a:pt x="4091644" y="0"/>
                </a:lnTo>
                <a:lnTo>
                  <a:pt x="4091644" y="3606891"/>
                </a:lnTo>
                <a:lnTo>
                  <a:pt x="0" y="3606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382612" y="8214854"/>
            <a:ext cx="2344510" cy="210757"/>
            <a:chOff x="0" y="0"/>
            <a:chExt cx="617484" cy="555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7484" cy="55508"/>
            </a:xfrm>
            <a:custGeom>
              <a:avLst/>
              <a:gdLst/>
              <a:ahLst/>
              <a:cxnLst/>
              <a:rect r="r" b="b" t="t" l="l"/>
              <a:pathLst>
                <a:path h="55508" w="617484">
                  <a:moveTo>
                    <a:pt x="0" y="0"/>
                  </a:moveTo>
                  <a:lnTo>
                    <a:pt x="617484" y="0"/>
                  </a:lnTo>
                  <a:lnTo>
                    <a:pt x="617484" y="55508"/>
                  </a:lnTo>
                  <a:lnTo>
                    <a:pt x="0" y="5550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7484" cy="93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85212" y="6339996"/>
            <a:ext cx="5285236" cy="2579397"/>
          </a:xfrm>
          <a:custGeom>
            <a:avLst/>
            <a:gdLst/>
            <a:ahLst/>
            <a:cxnLst/>
            <a:rect r="r" b="b" t="t" l="l"/>
            <a:pathLst>
              <a:path h="2579397" w="5285236">
                <a:moveTo>
                  <a:pt x="0" y="0"/>
                </a:moveTo>
                <a:lnTo>
                  <a:pt x="5285236" y="0"/>
                </a:lnTo>
                <a:lnTo>
                  <a:pt x="5285236" y="2579398"/>
                </a:lnTo>
                <a:lnTo>
                  <a:pt x="0" y="2579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85212" y="4257562"/>
            <a:ext cx="3834571" cy="1844309"/>
          </a:xfrm>
          <a:custGeom>
            <a:avLst/>
            <a:gdLst/>
            <a:ahLst/>
            <a:cxnLst/>
            <a:rect r="r" b="b" t="t" l="l"/>
            <a:pathLst>
              <a:path h="1844309" w="3834571">
                <a:moveTo>
                  <a:pt x="0" y="0"/>
                </a:moveTo>
                <a:lnTo>
                  <a:pt x="3834571" y="0"/>
                </a:lnTo>
                <a:lnTo>
                  <a:pt x="3834571" y="1844309"/>
                </a:lnTo>
                <a:lnTo>
                  <a:pt x="0" y="1844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2920" y="3282168"/>
            <a:ext cx="3170851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10. Clip 툴박스 실행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057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9. 결과 확인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27936" y="3424148"/>
            <a:ext cx="528945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산출물 레이어 우클릭 → [속성] → [정보] →  좌표계 확인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87710" y="7806312"/>
            <a:ext cx="4207111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좌표계가 부여된 것을 확인할 수 있음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6758" y="3400373"/>
            <a:ext cx="5289452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[공간 처리] → [툴박스] → ‘래스터 자르기’ 검색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→  [범위로 래스터 자르기] 클릭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85212" y="4257562"/>
            <a:ext cx="1084490" cy="315400"/>
            <a:chOff x="0" y="0"/>
            <a:chExt cx="285627" cy="830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5627" cy="83068"/>
            </a:xfrm>
            <a:custGeom>
              <a:avLst/>
              <a:gdLst/>
              <a:ahLst/>
              <a:cxnLst/>
              <a:rect r="r" b="b" t="t" l="l"/>
              <a:pathLst>
                <a:path h="83068" w="285627">
                  <a:moveTo>
                    <a:pt x="0" y="0"/>
                  </a:moveTo>
                  <a:lnTo>
                    <a:pt x="285627" y="0"/>
                  </a:lnTo>
                  <a:lnTo>
                    <a:pt x="285627" y="83068"/>
                  </a:lnTo>
                  <a:lnTo>
                    <a:pt x="0" y="8306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85627" cy="121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85212" y="4572963"/>
            <a:ext cx="3834571" cy="316848"/>
            <a:chOff x="0" y="0"/>
            <a:chExt cx="1009928" cy="83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9928" cy="83450"/>
            </a:xfrm>
            <a:custGeom>
              <a:avLst/>
              <a:gdLst/>
              <a:ahLst/>
              <a:cxnLst/>
              <a:rect r="r" b="b" t="t" l="l"/>
              <a:pathLst>
                <a:path h="83450" w="1009928">
                  <a:moveTo>
                    <a:pt x="0" y="0"/>
                  </a:moveTo>
                  <a:lnTo>
                    <a:pt x="1009928" y="0"/>
                  </a:lnTo>
                  <a:lnTo>
                    <a:pt x="1009928" y="83450"/>
                  </a:lnTo>
                  <a:lnTo>
                    <a:pt x="0" y="83450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09928" cy="12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65530" y="7454388"/>
            <a:ext cx="5204918" cy="275977"/>
            <a:chOff x="0" y="0"/>
            <a:chExt cx="1370843" cy="726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0843" cy="72685"/>
            </a:xfrm>
            <a:custGeom>
              <a:avLst/>
              <a:gdLst/>
              <a:ahLst/>
              <a:cxnLst/>
              <a:rect r="r" b="b" t="t" l="l"/>
              <a:pathLst>
                <a:path h="72685" w="1370843">
                  <a:moveTo>
                    <a:pt x="0" y="0"/>
                  </a:moveTo>
                  <a:lnTo>
                    <a:pt x="1370843" y="0"/>
                  </a:lnTo>
                  <a:lnTo>
                    <a:pt x="1370843" y="72685"/>
                  </a:lnTo>
                  <a:lnTo>
                    <a:pt x="0" y="72685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370843" cy="110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72123" y="6299985"/>
            <a:ext cx="475911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영역 → 사각형 선택 후 지도에서 원하는 지역 드래그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68577" y="2904627"/>
            <a:ext cx="8273503" cy="6847102"/>
            <a:chOff x="0" y="0"/>
            <a:chExt cx="2309537" cy="1911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02. 정사영상 지오레퍼런싱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2920" y="3282168"/>
            <a:ext cx="2820293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12. Clip 결과 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057" y="3282168"/>
            <a:ext cx="372505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11. 파라미터 설정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6726" y="3423233"/>
            <a:ext cx="5289452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파라미터를 다음과 같이 설정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11084" y="3966972"/>
            <a:ext cx="6304716" cy="5279382"/>
          </a:xfrm>
          <a:custGeom>
            <a:avLst/>
            <a:gdLst/>
            <a:ahLst/>
            <a:cxnLst/>
            <a:rect r="r" b="b" t="t" l="l"/>
            <a:pathLst>
              <a:path h="5279382" w="6304716">
                <a:moveTo>
                  <a:pt x="0" y="0"/>
                </a:moveTo>
                <a:lnTo>
                  <a:pt x="6304717" y="0"/>
                </a:lnTo>
                <a:lnTo>
                  <a:pt x="6304717" y="5279382"/>
                </a:lnTo>
                <a:lnTo>
                  <a:pt x="0" y="5279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14994" y="4587160"/>
            <a:ext cx="4474658" cy="237734"/>
            <a:chOff x="0" y="0"/>
            <a:chExt cx="1178511" cy="626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8511" cy="62613"/>
            </a:xfrm>
            <a:custGeom>
              <a:avLst/>
              <a:gdLst/>
              <a:ahLst/>
              <a:cxnLst/>
              <a:rect r="r" b="b" t="t" l="l"/>
              <a:pathLst>
                <a:path h="62613" w="1178511">
                  <a:moveTo>
                    <a:pt x="0" y="0"/>
                  </a:moveTo>
                  <a:lnTo>
                    <a:pt x="1178511" y="0"/>
                  </a:lnTo>
                  <a:lnTo>
                    <a:pt x="1178511" y="62613"/>
                  </a:lnTo>
                  <a:lnTo>
                    <a:pt x="0" y="62613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78511" cy="10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22300" y="4934809"/>
            <a:ext cx="313517" cy="244908"/>
            <a:chOff x="0" y="0"/>
            <a:chExt cx="82572" cy="645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572" cy="64502"/>
            </a:xfrm>
            <a:custGeom>
              <a:avLst/>
              <a:gdLst/>
              <a:ahLst/>
              <a:cxnLst/>
              <a:rect r="r" b="b" t="t" l="l"/>
              <a:pathLst>
                <a:path h="64502" w="82572">
                  <a:moveTo>
                    <a:pt x="0" y="0"/>
                  </a:moveTo>
                  <a:lnTo>
                    <a:pt x="82572" y="0"/>
                  </a:lnTo>
                  <a:lnTo>
                    <a:pt x="82572" y="64502"/>
                  </a:lnTo>
                  <a:lnTo>
                    <a:pt x="0" y="6450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2572" cy="102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22300" y="5788061"/>
            <a:ext cx="1793501" cy="215048"/>
            <a:chOff x="0" y="0"/>
            <a:chExt cx="472362" cy="566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362" cy="56638"/>
            </a:xfrm>
            <a:custGeom>
              <a:avLst/>
              <a:gdLst/>
              <a:ahLst/>
              <a:cxnLst/>
              <a:rect r="r" b="b" t="t" l="l"/>
              <a:pathLst>
                <a:path h="56638" w="472362">
                  <a:moveTo>
                    <a:pt x="0" y="0"/>
                  </a:moveTo>
                  <a:lnTo>
                    <a:pt x="472362" y="0"/>
                  </a:lnTo>
                  <a:lnTo>
                    <a:pt x="472362" y="56638"/>
                  </a:lnTo>
                  <a:lnTo>
                    <a:pt x="0" y="56638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72362" cy="94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972123" y="3923728"/>
            <a:ext cx="5954524" cy="5055549"/>
          </a:xfrm>
          <a:custGeom>
            <a:avLst/>
            <a:gdLst/>
            <a:ahLst/>
            <a:cxnLst/>
            <a:rect r="r" b="b" t="t" l="l"/>
            <a:pathLst>
              <a:path h="5055549" w="5954524">
                <a:moveTo>
                  <a:pt x="0" y="0"/>
                </a:moveTo>
                <a:lnTo>
                  <a:pt x="5954524" y="0"/>
                </a:lnTo>
                <a:lnTo>
                  <a:pt x="5954524" y="5055548"/>
                </a:lnTo>
                <a:lnTo>
                  <a:pt x="0" y="5055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31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421686" y="7378199"/>
            <a:ext cx="4676850" cy="671118"/>
          </a:xfrm>
          <a:custGeom>
            <a:avLst/>
            <a:gdLst/>
            <a:ahLst/>
            <a:cxnLst/>
            <a:rect r="r" b="b" t="t" l="l"/>
            <a:pathLst>
              <a:path h="671118" w="4676850">
                <a:moveTo>
                  <a:pt x="0" y="0"/>
                </a:moveTo>
                <a:lnTo>
                  <a:pt x="4676850" y="0"/>
                </a:lnTo>
                <a:lnTo>
                  <a:pt x="4676850" y="671117"/>
                </a:lnTo>
                <a:lnTo>
                  <a:pt x="0" y="671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501623" y="7587502"/>
            <a:ext cx="4545426" cy="240501"/>
            <a:chOff x="0" y="0"/>
            <a:chExt cx="1197149" cy="633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7149" cy="63342"/>
            </a:xfrm>
            <a:custGeom>
              <a:avLst/>
              <a:gdLst/>
              <a:ahLst/>
              <a:cxnLst/>
              <a:rect r="r" b="b" t="t" l="l"/>
              <a:pathLst>
                <a:path h="63342" w="1197149">
                  <a:moveTo>
                    <a:pt x="0" y="0"/>
                  </a:moveTo>
                  <a:lnTo>
                    <a:pt x="1197149" y="0"/>
                  </a:lnTo>
                  <a:lnTo>
                    <a:pt x="1197149" y="63342"/>
                  </a:lnTo>
                  <a:lnTo>
                    <a:pt x="0" y="63342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97149" cy="101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96705" y="8979276"/>
            <a:ext cx="614522" cy="203764"/>
            <a:chOff x="0" y="0"/>
            <a:chExt cx="161849" cy="536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1849" cy="53666"/>
            </a:xfrm>
            <a:custGeom>
              <a:avLst/>
              <a:gdLst/>
              <a:ahLst/>
              <a:cxnLst/>
              <a:rect r="r" b="b" t="t" l="l"/>
              <a:pathLst>
                <a:path h="53666" w="161849">
                  <a:moveTo>
                    <a:pt x="0" y="0"/>
                  </a:moveTo>
                  <a:lnTo>
                    <a:pt x="161849" y="0"/>
                  </a:lnTo>
                  <a:lnTo>
                    <a:pt x="161849" y="53666"/>
                  </a:lnTo>
                  <a:lnTo>
                    <a:pt x="0" y="53666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1849" cy="9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20609" y="4330012"/>
            <a:ext cx="4121893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① 지오레퍼런싱 결과 정사영상 선택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59776" y="7280824"/>
            <a:ext cx="3991753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② 저장 경로 및 파일명 지정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36602" y="4884874"/>
            <a:ext cx="329208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③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36602" y="5723196"/>
            <a:ext cx="329208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⑤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655652" y="6029691"/>
            <a:ext cx="3105567" cy="308394"/>
            <a:chOff x="0" y="0"/>
            <a:chExt cx="817927" cy="812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7927" cy="81223"/>
            </a:xfrm>
            <a:custGeom>
              <a:avLst/>
              <a:gdLst/>
              <a:ahLst/>
              <a:cxnLst/>
              <a:rect r="r" b="b" t="t" l="l"/>
              <a:pathLst>
                <a:path h="81223" w="817927">
                  <a:moveTo>
                    <a:pt x="0" y="0"/>
                  </a:moveTo>
                  <a:lnTo>
                    <a:pt x="817927" y="0"/>
                  </a:lnTo>
                  <a:lnTo>
                    <a:pt x="817927" y="81223"/>
                  </a:lnTo>
                  <a:lnTo>
                    <a:pt x="0" y="81223"/>
                  </a:lnTo>
                  <a:close/>
                </a:path>
              </a:pathLst>
            </a:custGeom>
            <a:solidFill>
              <a:srgbClr val="FDFDF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17927" cy="119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627077" y="6027112"/>
            <a:ext cx="3124617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⑥ 지도 캔버스에서 원하는 영역 드래그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18466" y="8928772"/>
            <a:ext cx="278239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⑦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8577" y="2904627"/>
            <a:ext cx="8273503" cy="6847102"/>
            <a:chOff x="0" y="0"/>
            <a:chExt cx="2309537" cy="1911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86057" y="6012655"/>
            <a:ext cx="7319609" cy="3043017"/>
          </a:xfrm>
          <a:custGeom>
            <a:avLst/>
            <a:gdLst/>
            <a:ahLst/>
            <a:cxnLst/>
            <a:rect r="r" b="b" t="t" l="l"/>
            <a:pathLst>
              <a:path h="3043017" w="7319609">
                <a:moveTo>
                  <a:pt x="0" y="0"/>
                </a:moveTo>
                <a:lnTo>
                  <a:pt x="7319609" y="0"/>
                </a:lnTo>
                <a:lnTo>
                  <a:pt x="7319609" y="3043016"/>
                </a:lnTo>
                <a:lnTo>
                  <a:pt x="0" y="3043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85" t="0" r="0" b="-8252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벡터와 래스터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00970" y="6012655"/>
            <a:ext cx="7408717" cy="2550587"/>
          </a:xfrm>
          <a:custGeom>
            <a:avLst/>
            <a:gdLst/>
            <a:ahLst/>
            <a:cxnLst/>
            <a:rect r="r" b="b" t="t" l="l"/>
            <a:pathLst>
              <a:path h="2550587" w="7408717">
                <a:moveTo>
                  <a:pt x="0" y="0"/>
                </a:moveTo>
                <a:lnTo>
                  <a:pt x="7408717" y="0"/>
                </a:lnTo>
                <a:lnTo>
                  <a:pt x="7408717" y="2550587"/>
                </a:lnTo>
                <a:lnTo>
                  <a:pt x="0" y="2550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81" t="-117956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17001" y="2904627"/>
            <a:ext cx="8273503" cy="970912"/>
            <a:chOff x="0" y="0"/>
            <a:chExt cx="2179030" cy="2557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9030" cy="255713"/>
            </a:xfrm>
            <a:custGeom>
              <a:avLst/>
              <a:gdLst/>
              <a:ahLst/>
              <a:cxnLst/>
              <a:rect r="r" b="b" t="t" l="l"/>
              <a:pathLst>
                <a:path h="255713" w="2179030">
                  <a:moveTo>
                    <a:pt x="0" y="0"/>
                  </a:moveTo>
                  <a:lnTo>
                    <a:pt x="2179030" y="0"/>
                  </a:lnTo>
                  <a:lnTo>
                    <a:pt x="2179030" y="255713"/>
                  </a:lnTo>
                  <a:lnTo>
                    <a:pt x="0" y="255713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79030" cy="265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807703" y="3186318"/>
            <a:ext cx="189209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벡터 데이터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68577" y="2894720"/>
            <a:ext cx="8273503" cy="970912"/>
            <a:chOff x="0" y="0"/>
            <a:chExt cx="2179030" cy="2557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9030" cy="255713"/>
            </a:xfrm>
            <a:custGeom>
              <a:avLst/>
              <a:gdLst/>
              <a:ahLst/>
              <a:cxnLst/>
              <a:rect r="r" b="b" t="t" l="l"/>
              <a:pathLst>
                <a:path h="255713" w="2179030">
                  <a:moveTo>
                    <a:pt x="0" y="0"/>
                  </a:moveTo>
                  <a:lnTo>
                    <a:pt x="2179030" y="0"/>
                  </a:lnTo>
                  <a:lnTo>
                    <a:pt x="2179030" y="255713"/>
                  </a:lnTo>
                  <a:lnTo>
                    <a:pt x="0" y="255713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79030" cy="265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515115" y="3186318"/>
            <a:ext cx="2180428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래스터 데이터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057" y="4242773"/>
            <a:ext cx="7527413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점, 선, 면 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 같은 기하학적인 요소를 사용하여 지리적인 개체를 표현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80277" y="4242773"/>
            <a:ext cx="5289452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격자 또는 그리드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형태로 지리적인 개체를 표현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197" y="5305669"/>
            <a:ext cx="2800404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예시: 도로망, 행정구역, 건물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57005" y="5250910"/>
            <a:ext cx="2172755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예시: DEM, 위성영상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6057" y="4746842"/>
            <a:ext cx="4345916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각 객체의 위치와 형태를 좌표값으로 저장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0277" y="4746842"/>
            <a:ext cx="2306701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각 픽셀에 값을 저장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850" y="2709365"/>
            <a:ext cx="16024450" cy="1697200"/>
            <a:chOff x="0" y="0"/>
            <a:chExt cx="4473203" cy="473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73203" cy="473740"/>
            </a:xfrm>
            <a:custGeom>
              <a:avLst/>
              <a:gdLst/>
              <a:ahLst/>
              <a:cxnLst/>
              <a:rect r="r" b="b" t="t" l="l"/>
              <a:pathLst>
                <a:path h="473740" w="4473203">
                  <a:moveTo>
                    <a:pt x="4473203" y="0"/>
                  </a:moveTo>
                  <a:lnTo>
                    <a:pt x="4473203" y="473740"/>
                  </a:lnTo>
                  <a:lnTo>
                    <a:pt x="0" y="473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73203" cy="521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4850" y="4743194"/>
            <a:ext cx="4545557" cy="4527497"/>
          </a:xfrm>
          <a:custGeom>
            <a:avLst/>
            <a:gdLst/>
            <a:ahLst/>
            <a:cxnLst/>
            <a:rect r="r" b="b" t="t" l="l"/>
            <a:pathLst>
              <a:path h="4527497" w="4545557">
                <a:moveTo>
                  <a:pt x="0" y="0"/>
                </a:moveTo>
                <a:lnTo>
                  <a:pt x="4545557" y="0"/>
                </a:lnTo>
                <a:lnTo>
                  <a:pt x="4545557" y="4527497"/>
                </a:lnTo>
                <a:lnTo>
                  <a:pt x="0" y="4527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49" t="0" r="-5229" b="-1445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2210" y="4755586"/>
            <a:ext cx="5534977" cy="4515106"/>
          </a:xfrm>
          <a:custGeom>
            <a:avLst/>
            <a:gdLst/>
            <a:ahLst/>
            <a:cxnLst/>
            <a:rect r="r" b="b" t="t" l="l"/>
            <a:pathLst>
              <a:path h="4515106" w="5534977">
                <a:moveTo>
                  <a:pt x="0" y="0"/>
                </a:moveTo>
                <a:lnTo>
                  <a:pt x="5534977" y="0"/>
                </a:lnTo>
                <a:lnTo>
                  <a:pt x="5534977" y="4515105"/>
                </a:lnTo>
                <a:lnTo>
                  <a:pt x="0" y="4515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926" b="-36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58989" y="4755586"/>
            <a:ext cx="4800311" cy="4515106"/>
          </a:xfrm>
          <a:custGeom>
            <a:avLst/>
            <a:gdLst/>
            <a:ahLst/>
            <a:cxnLst/>
            <a:rect r="r" b="b" t="t" l="l"/>
            <a:pathLst>
              <a:path h="4515106" w="4800311">
                <a:moveTo>
                  <a:pt x="0" y="0"/>
                </a:moveTo>
                <a:lnTo>
                  <a:pt x="4800311" y="0"/>
                </a:lnTo>
                <a:lnTo>
                  <a:pt x="4800311" y="4515105"/>
                </a:lnTo>
                <a:lnTo>
                  <a:pt x="0" y="4515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58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GeoDeep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4836" y="2954823"/>
            <a:ext cx="15198463" cy="16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GeoTIFF와 같은 지리공간 래스터 데이터를 대상으로 AI 기반 </a:t>
            </a:r>
            <a:r>
              <a:rPr lang="en-US" sz="2199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객체 탐지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en-US" sz="2199">
                <a:solidFill>
                  <a:srgbClr val="DD2E4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의미론적 분할</a:t>
            </a: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수행할 수 있는 Python 오픈소스 라이브러리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사전학습 모델을 제공하므로, 별도의 모델 학습 과정 없이 정사영상에서 건물, 도로, 차량 등 특정 객체 탐지 및 분할 가능</a:t>
            </a:r>
          </a:p>
          <a:p>
            <a:pPr algn="l">
              <a:lnSpc>
                <a:spcPts val="43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001" y="2894720"/>
            <a:ext cx="8273503" cy="6866916"/>
            <a:chOff x="0" y="0"/>
            <a:chExt cx="2309537" cy="1916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9537" cy="1916764"/>
            </a:xfrm>
            <a:custGeom>
              <a:avLst/>
              <a:gdLst/>
              <a:ahLst/>
              <a:cxnLst/>
              <a:rect r="r" b="b" t="t" l="l"/>
              <a:pathLst>
                <a:path h="1916764" w="2309537">
                  <a:moveTo>
                    <a:pt x="2309537" y="0"/>
                  </a:moveTo>
                  <a:lnTo>
                    <a:pt x="2309537" y="1916764"/>
                  </a:lnTo>
                  <a:lnTo>
                    <a:pt x="0" y="191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9537" cy="196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8577" y="2904627"/>
            <a:ext cx="8273503" cy="6847102"/>
            <a:chOff x="0" y="0"/>
            <a:chExt cx="2309537" cy="1911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9537" cy="1911233"/>
            </a:xfrm>
            <a:custGeom>
              <a:avLst/>
              <a:gdLst/>
              <a:ahLst/>
              <a:cxnLst/>
              <a:rect r="r" b="b" t="t" l="l"/>
              <a:pathLst>
                <a:path h="1911233" w="2309537">
                  <a:moveTo>
                    <a:pt x="2309537" y="0"/>
                  </a:moveTo>
                  <a:lnTo>
                    <a:pt x="2309537" y="1911233"/>
                  </a:lnTo>
                  <a:lnTo>
                    <a:pt x="0" y="191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09537" cy="19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7001" y="2904627"/>
            <a:ext cx="8273503" cy="970912"/>
            <a:chOff x="0" y="0"/>
            <a:chExt cx="2179030" cy="2557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9030" cy="255713"/>
            </a:xfrm>
            <a:custGeom>
              <a:avLst/>
              <a:gdLst/>
              <a:ahLst/>
              <a:cxnLst/>
              <a:rect r="r" b="b" t="t" l="l"/>
              <a:pathLst>
                <a:path h="255713" w="2179030">
                  <a:moveTo>
                    <a:pt x="0" y="0"/>
                  </a:moveTo>
                  <a:lnTo>
                    <a:pt x="2179030" y="0"/>
                  </a:lnTo>
                  <a:lnTo>
                    <a:pt x="2179030" y="255713"/>
                  </a:lnTo>
                  <a:lnTo>
                    <a:pt x="0" y="255713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79030" cy="265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68577" y="2894720"/>
            <a:ext cx="8273503" cy="970912"/>
            <a:chOff x="0" y="0"/>
            <a:chExt cx="2179030" cy="2557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9030" cy="255713"/>
            </a:xfrm>
            <a:custGeom>
              <a:avLst/>
              <a:gdLst/>
              <a:ahLst/>
              <a:cxnLst/>
              <a:rect r="r" b="b" t="t" l="l"/>
              <a:pathLst>
                <a:path h="255713" w="2179030">
                  <a:moveTo>
                    <a:pt x="0" y="0"/>
                  </a:moveTo>
                  <a:lnTo>
                    <a:pt x="2179030" y="0"/>
                  </a:lnTo>
                  <a:lnTo>
                    <a:pt x="2179030" y="255713"/>
                  </a:lnTo>
                  <a:lnTo>
                    <a:pt x="0" y="255713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79030" cy="265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87859" y="5351663"/>
            <a:ext cx="4589625" cy="3995561"/>
          </a:xfrm>
          <a:custGeom>
            <a:avLst/>
            <a:gdLst/>
            <a:ahLst/>
            <a:cxnLst/>
            <a:rect r="r" b="b" t="t" l="l"/>
            <a:pathLst>
              <a:path h="3995561" w="4589625">
                <a:moveTo>
                  <a:pt x="0" y="0"/>
                </a:moveTo>
                <a:lnTo>
                  <a:pt x="4589625" y="0"/>
                </a:lnTo>
                <a:lnTo>
                  <a:pt x="4589625" y="3995561"/>
                </a:lnTo>
                <a:lnTo>
                  <a:pt x="0" y="3995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901757" y="5351663"/>
            <a:ext cx="5139388" cy="3995561"/>
          </a:xfrm>
          <a:custGeom>
            <a:avLst/>
            <a:gdLst/>
            <a:ahLst/>
            <a:cxnLst/>
            <a:rect r="r" b="b" t="t" l="l"/>
            <a:pathLst>
              <a:path h="3995561" w="5139388">
                <a:moveTo>
                  <a:pt x="0" y="0"/>
                </a:moveTo>
                <a:lnTo>
                  <a:pt x="5139388" y="0"/>
                </a:lnTo>
                <a:lnTo>
                  <a:pt x="5139388" y="3995561"/>
                </a:lnTo>
                <a:lnTo>
                  <a:pt x="0" y="3995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82671" y="1510219"/>
            <a:ext cx="8922657" cy="90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GeoDeep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4141" y="3161067"/>
            <a:ext cx="457922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Segment - 건물 마스크 생성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72322" y="3161067"/>
            <a:ext cx="3066012" cy="44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301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Detect - 객체 탐지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367" y="4177704"/>
            <a:ext cx="7584770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각 픽셀에서 특정 객체에 해당하는 부분을 마스크로 분할 → Output : 래스터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41622" y="4177704"/>
            <a:ext cx="6168143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영상 내 객체를 bounding box 형태로 탐지 → Output : 벡터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1367" y="4602914"/>
            <a:ext cx="7527413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 예시 : roads, buildings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1622" y="4602914"/>
            <a:ext cx="7527413" cy="34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 예시 : cars, trees, planes, aerovision, utilities, waldo30_nano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DAHQQY4rZ9k</dc:identifier>
  <dcterms:modified xsi:type="dcterms:W3CDTF">2011-08-01T06:04:30Z</dcterms:modified>
  <cp:revision>1</cp:revision>
  <dc:title>GeoDeep GeoAI</dc:title>
</cp:coreProperties>
</file>
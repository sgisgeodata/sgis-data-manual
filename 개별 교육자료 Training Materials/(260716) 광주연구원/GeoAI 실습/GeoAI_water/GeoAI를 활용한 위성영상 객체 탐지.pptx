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nva Sans" charset="1" panose="020B0503030501040103"/>
      <p:regular r:id="rId12"/>
    </p:embeddedFont>
    <p:embeddedFont>
      <p:font typeface="프리텐다드 Medium" charset="1" panose="02000603000000020004"/>
      <p:regular r:id="rId13"/>
    </p:embeddedFont>
    <p:embeddedFont>
      <p:font typeface="프리텐다드 Bold" charset="1" panose="02000803000000020004"/>
      <p:regular r:id="rId14"/>
    </p:embeddedFont>
    <p:embeddedFont>
      <p:font typeface="Helvetica Now" charset="1" panose="020B0504030202020204"/>
      <p:regular r:id="rId15"/>
    </p:embeddedFont>
    <p:embeddedFont>
      <p:font typeface="프리텐다드" charset="1" panose="0200050300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2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ln w="19050" cap="sq">
              <a:solidFill>
                <a:srgbClr val="8BA7E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39468" y="528871"/>
            <a:ext cx="3086100" cy="645859"/>
            <a:chOff x="0" y="0"/>
            <a:chExt cx="812800" cy="170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70103"/>
            </a:xfrm>
            <a:custGeom>
              <a:avLst/>
              <a:gdLst/>
              <a:ahLst/>
              <a:cxnLst/>
              <a:rect r="r" b="b" t="t" l="l"/>
              <a:pathLst>
                <a:path h="170103" w="812800">
                  <a:moveTo>
                    <a:pt x="85051" y="0"/>
                  </a:moveTo>
                  <a:lnTo>
                    <a:pt x="727749" y="0"/>
                  </a:lnTo>
                  <a:cubicBezTo>
                    <a:pt x="750306" y="0"/>
                    <a:pt x="771939" y="8961"/>
                    <a:pt x="787889" y="24911"/>
                  </a:cubicBezTo>
                  <a:cubicBezTo>
                    <a:pt x="803839" y="40861"/>
                    <a:pt x="812800" y="62494"/>
                    <a:pt x="812800" y="85051"/>
                  </a:cubicBezTo>
                  <a:lnTo>
                    <a:pt x="812800" y="85051"/>
                  </a:lnTo>
                  <a:cubicBezTo>
                    <a:pt x="812800" y="107608"/>
                    <a:pt x="803839" y="129242"/>
                    <a:pt x="787889" y="145192"/>
                  </a:cubicBezTo>
                  <a:cubicBezTo>
                    <a:pt x="771939" y="161142"/>
                    <a:pt x="750306" y="170103"/>
                    <a:pt x="727749" y="170103"/>
                  </a:cubicBezTo>
                  <a:lnTo>
                    <a:pt x="85051" y="170103"/>
                  </a:lnTo>
                  <a:cubicBezTo>
                    <a:pt x="62494" y="170103"/>
                    <a:pt x="40861" y="161142"/>
                    <a:pt x="24911" y="145192"/>
                  </a:cubicBezTo>
                  <a:cubicBezTo>
                    <a:pt x="8961" y="129242"/>
                    <a:pt x="0" y="107608"/>
                    <a:pt x="0" y="85051"/>
                  </a:cubicBezTo>
                  <a:lnTo>
                    <a:pt x="0" y="85051"/>
                  </a:lnTo>
                  <a:cubicBezTo>
                    <a:pt x="0" y="62494"/>
                    <a:pt x="8961" y="40861"/>
                    <a:pt x="24911" y="24911"/>
                  </a:cubicBezTo>
                  <a:cubicBezTo>
                    <a:pt x="40861" y="8961"/>
                    <a:pt x="62494" y="0"/>
                    <a:pt x="85051" y="0"/>
                  </a:cubicBezTo>
                  <a:close/>
                </a:path>
              </a:pathLst>
            </a:custGeom>
            <a:solidFill>
              <a:srgbClr val="122B6B"/>
            </a:solidFill>
            <a:ln w="19050" cap="rnd">
              <a:solidFill>
                <a:srgbClr val="8BA7E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812800" cy="179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660851" y="705440"/>
            <a:ext cx="264333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A8C2FE"/>
                </a:solidFill>
                <a:latin typeface="Canva Sans"/>
                <a:ea typeface="Canva Sans"/>
                <a:cs typeface="Canva Sans"/>
                <a:sym typeface="Canva Sans"/>
              </a:rPr>
              <a:t>공간정보서비스과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204047" y="7330375"/>
          <a:ext cx="6312562" cy="1345521"/>
        </p:xfrm>
        <a:graphic>
          <a:graphicData uri="http://schemas.openxmlformats.org/drawingml/2006/table">
            <a:tbl>
              <a:tblPr/>
              <a:tblGrid>
                <a:gridCol w="2366537"/>
                <a:gridCol w="3946025"/>
              </a:tblGrid>
              <a:tr h="6715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작성인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공간정보서비스과 청년인턴 이정민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0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작성</a:t>
                      </a:r>
                      <a:r>
                        <a:rPr lang="en-US" b="true" sz="1799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일자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2026년  8월  10일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204047" y="2962262"/>
            <a:ext cx="15256714" cy="210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6F6F6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GeoAI를 활용한 위성영상 객체 탐지</a:t>
            </a:r>
          </a:p>
          <a:p>
            <a:pPr algn="l">
              <a:lnSpc>
                <a:spcPts val="84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04047" y="4200489"/>
            <a:ext cx="9351073" cy="52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8C2FE"/>
                </a:solidFill>
                <a:latin typeface="Helvetica Now"/>
                <a:ea typeface="Helvetica Now"/>
                <a:cs typeface="Helvetica Now"/>
                <a:sym typeface="Helvetica Now"/>
              </a:rPr>
              <a:t>강원도 영월군 청령포 일대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68577" y="2914534"/>
            <a:ext cx="8273503" cy="6847102"/>
            <a:chOff x="0" y="0"/>
            <a:chExt cx="2309537" cy="19112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42182" y="4336170"/>
            <a:ext cx="7223139" cy="3174700"/>
          </a:xfrm>
          <a:custGeom>
            <a:avLst/>
            <a:gdLst/>
            <a:ahLst/>
            <a:cxnLst/>
            <a:rect r="r" b="b" t="t" l="l"/>
            <a:pathLst>
              <a:path h="3174700" w="7223139">
                <a:moveTo>
                  <a:pt x="0" y="0"/>
                </a:moveTo>
                <a:lnTo>
                  <a:pt x="7223140" y="0"/>
                </a:lnTo>
                <a:lnTo>
                  <a:pt x="7223140" y="3174700"/>
                </a:lnTo>
                <a:lnTo>
                  <a:pt x="0" y="3174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924" r="0" b="-18056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828601" y="4336170"/>
            <a:ext cx="448876" cy="229504"/>
            <a:chOff x="0" y="0"/>
            <a:chExt cx="118222" cy="604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222" cy="60445"/>
            </a:xfrm>
            <a:custGeom>
              <a:avLst/>
              <a:gdLst/>
              <a:ahLst/>
              <a:cxnLst/>
              <a:rect r="r" b="b" t="t" l="l"/>
              <a:pathLst>
                <a:path h="60445" w="118222">
                  <a:moveTo>
                    <a:pt x="0" y="0"/>
                  </a:moveTo>
                  <a:lnTo>
                    <a:pt x="118222" y="0"/>
                  </a:lnTo>
                  <a:lnTo>
                    <a:pt x="118222" y="60445"/>
                  </a:lnTo>
                  <a:lnTo>
                    <a:pt x="0" y="60445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8222" cy="98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78903" y="7130550"/>
            <a:ext cx="6149697" cy="2237890"/>
          </a:xfrm>
          <a:custGeom>
            <a:avLst/>
            <a:gdLst/>
            <a:ahLst/>
            <a:cxnLst/>
            <a:rect r="r" b="b" t="t" l="l"/>
            <a:pathLst>
              <a:path h="2237890" w="6149697">
                <a:moveTo>
                  <a:pt x="0" y="0"/>
                </a:moveTo>
                <a:lnTo>
                  <a:pt x="6149698" y="0"/>
                </a:lnTo>
                <a:lnTo>
                  <a:pt x="6149698" y="2237889"/>
                </a:lnTo>
                <a:lnTo>
                  <a:pt x="0" y="2237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844875" y="7627054"/>
            <a:ext cx="1534385" cy="445597"/>
          </a:xfrm>
          <a:custGeom>
            <a:avLst/>
            <a:gdLst/>
            <a:ahLst/>
            <a:cxnLst/>
            <a:rect r="r" b="b" t="t" l="l"/>
            <a:pathLst>
              <a:path h="445597" w="1534385">
                <a:moveTo>
                  <a:pt x="0" y="0"/>
                </a:moveTo>
                <a:lnTo>
                  <a:pt x="1534385" y="0"/>
                </a:lnTo>
                <a:lnTo>
                  <a:pt x="1534385" y="445598"/>
                </a:lnTo>
                <a:lnTo>
                  <a:pt x="0" y="445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767" t="-446418" r="-21729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47533" y="5106759"/>
            <a:ext cx="7115592" cy="1217024"/>
          </a:xfrm>
          <a:custGeom>
            <a:avLst/>
            <a:gdLst/>
            <a:ahLst/>
            <a:cxnLst/>
            <a:rect r="r" b="b" t="t" l="l"/>
            <a:pathLst>
              <a:path h="1217024" w="7115592">
                <a:moveTo>
                  <a:pt x="0" y="0"/>
                </a:moveTo>
                <a:lnTo>
                  <a:pt x="7115591" y="0"/>
                </a:lnTo>
                <a:lnTo>
                  <a:pt x="7115591" y="1217024"/>
                </a:lnTo>
                <a:lnTo>
                  <a:pt x="0" y="12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47533" y="4183205"/>
            <a:ext cx="4616964" cy="605901"/>
          </a:xfrm>
          <a:custGeom>
            <a:avLst/>
            <a:gdLst/>
            <a:ahLst/>
            <a:cxnLst/>
            <a:rect r="r" b="b" t="t" l="l"/>
            <a:pathLst>
              <a:path h="605901" w="4616964">
                <a:moveTo>
                  <a:pt x="0" y="0"/>
                </a:moveTo>
                <a:lnTo>
                  <a:pt x="4616964" y="0"/>
                </a:lnTo>
                <a:lnTo>
                  <a:pt x="4616964" y="605900"/>
                </a:lnTo>
                <a:lnTo>
                  <a:pt x="0" y="605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210072" y="4183205"/>
            <a:ext cx="2454425" cy="605901"/>
            <a:chOff x="0" y="0"/>
            <a:chExt cx="646433" cy="1595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6433" cy="159579"/>
            </a:xfrm>
            <a:custGeom>
              <a:avLst/>
              <a:gdLst/>
              <a:ahLst/>
              <a:cxnLst/>
              <a:rect r="r" b="b" t="t" l="l"/>
              <a:pathLst>
                <a:path h="159579" w="646433">
                  <a:moveTo>
                    <a:pt x="0" y="0"/>
                  </a:moveTo>
                  <a:lnTo>
                    <a:pt x="646433" y="0"/>
                  </a:lnTo>
                  <a:lnTo>
                    <a:pt x="646433" y="159579"/>
                  </a:lnTo>
                  <a:lnTo>
                    <a:pt x="0" y="159579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46433" cy="197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726488" y="5106759"/>
            <a:ext cx="1301364" cy="397017"/>
            <a:chOff x="0" y="0"/>
            <a:chExt cx="342746" cy="1045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2746" cy="104564"/>
            </a:xfrm>
            <a:custGeom>
              <a:avLst/>
              <a:gdLst/>
              <a:ahLst/>
              <a:cxnLst/>
              <a:rect r="r" b="b" t="t" l="l"/>
              <a:pathLst>
                <a:path h="104564" w="342746">
                  <a:moveTo>
                    <a:pt x="0" y="0"/>
                  </a:moveTo>
                  <a:lnTo>
                    <a:pt x="342746" y="0"/>
                  </a:lnTo>
                  <a:lnTo>
                    <a:pt x="342746" y="104564"/>
                  </a:lnTo>
                  <a:lnTo>
                    <a:pt x="0" y="104564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42746" cy="142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047533" y="6451205"/>
            <a:ext cx="4358907" cy="3146805"/>
          </a:xfrm>
          <a:custGeom>
            <a:avLst/>
            <a:gdLst/>
            <a:ahLst/>
            <a:cxnLst/>
            <a:rect r="r" b="b" t="t" l="l"/>
            <a:pathLst>
              <a:path h="3146805" w="4358907">
                <a:moveTo>
                  <a:pt x="0" y="0"/>
                </a:moveTo>
                <a:lnTo>
                  <a:pt x="4358907" y="0"/>
                </a:lnTo>
                <a:lnTo>
                  <a:pt x="4358907" y="3146804"/>
                </a:lnTo>
                <a:lnTo>
                  <a:pt x="0" y="3146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604478" y="1510219"/>
            <a:ext cx="13079043" cy="90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Google Earth Engine에서 위성영상 불러오기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56792" y="3387354"/>
            <a:ext cx="4568416" cy="62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구글 어스 엔진 홈페이지 → [get started] 클릭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구글 계정 로그인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3206285"/>
            <a:ext cx="5164449" cy="44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구글 어스엔진 접속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33905" y="3206285"/>
            <a:ext cx="4407181" cy="44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새 프로젝트 등록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01878" y="7627054"/>
            <a:ext cx="4039209" cy="481496"/>
            <a:chOff x="0" y="0"/>
            <a:chExt cx="1063825" cy="12681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3825" cy="126814"/>
            </a:xfrm>
            <a:custGeom>
              <a:avLst/>
              <a:gdLst/>
              <a:ahLst/>
              <a:cxnLst/>
              <a:rect r="r" b="b" t="t" l="l"/>
              <a:pathLst>
                <a:path h="126814" w="1063825">
                  <a:moveTo>
                    <a:pt x="0" y="0"/>
                  </a:moveTo>
                  <a:lnTo>
                    <a:pt x="1063825" y="0"/>
                  </a:lnTo>
                  <a:lnTo>
                    <a:pt x="1063825" y="126814"/>
                  </a:lnTo>
                  <a:lnTo>
                    <a:pt x="0" y="126814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63825" cy="16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149473" y="9192306"/>
            <a:ext cx="558689" cy="292179"/>
            <a:chOff x="0" y="0"/>
            <a:chExt cx="147144" cy="769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7144" cy="76952"/>
            </a:xfrm>
            <a:custGeom>
              <a:avLst/>
              <a:gdLst/>
              <a:ahLst/>
              <a:cxnLst/>
              <a:rect r="r" b="b" t="t" l="l"/>
              <a:pathLst>
                <a:path h="76952" w="147144">
                  <a:moveTo>
                    <a:pt x="0" y="0"/>
                  </a:moveTo>
                  <a:lnTo>
                    <a:pt x="147144" y="0"/>
                  </a:lnTo>
                  <a:lnTo>
                    <a:pt x="147144" y="76952"/>
                  </a:lnTo>
                  <a:lnTo>
                    <a:pt x="0" y="7695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47144" cy="115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018092" y="3343600"/>
            <a:ext cx="4568416" cy="62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프로젝트 → 새 프로젝트 → 프로젝트 이름 입력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만들기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68577" y="2914534"/>
            <a:ext cx="8273503" cy="6847102"/>
            <a:chOff x="0" y="0"/>
            <a:chExt cx="2309537" cy="19112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187052" y="4430564"/>
            <a:ext cx="5496470" cy="5246630"/>
          </a:xfrm>
          <a:custGeom>
            <a:avLst/>
            <a:gdLst/>
            <a:ahLst/>
            <a:cxnLst/>
            <a:rect r="r" b="b" t="t" l="l"/>
            <a:pathLst>
              <a:path h="5246630" w="5496470">
                <a:moveTo>
                  <a:pt x="0" y="0"/>
                </a:moveTo>
                <a:lnTo>
                  <a:pt x="5496470" y="0"/>
                </a:lnTo>
                <a:lnTo>
                  <a:pt x="5496470" y="5246630"/>
                </a:lnTo>
                <a:lnTo>
                  <a:pt x="0" y="5246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6555" y="4432807"/>
            <a:ext cx="4169620" cy="603658"/>
          </a:xfrm>
          <a:custGeom>
            <a:avLst/>
            <a:gdLst/>
            <a:ahLst/>
            <a:cxnLst/>
            <a:rect r="r" b="b" t="t" l="l"/>
            <a:pathLst>
              <a:path h="603658" w="4169620">
                <a:moveTo>
                  <a:pt x="0" y="0"/>
                </a:moveTo>
                <a:lnTo>
                  <a:pt x="4169619" y="0"/>
                </a:lnTo>
                <a:lnTo>
                  <a:pt x="4169619" y="603658"/>
                </a:lnTo>
                <a:lnTo>
                  <a:pt x="0" y="603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91342" b="-106589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46555" y="5226965"/>
            <a:ext cx="3514893" cy="1551649"/>
          </a:xfrm>
          <a:custGeom>
            <a:avLst/>
            <a:gdLst/>
            <a:ahLst/>
            <a:cxnLst/>
            <a:rect r="r" b="b" t="t" l="l"/>
            <a:pathLst>
              <a:path h="1551649" w="3514893">
                <a:moveTo>
                  <a:pt x="0" y="0"/>
                </a:moveTo>
                <a:lnTo>
                  <a:pt x="3514892" y="0"/>
                </a:lnTo>
                <a:lnTo>
                  <a:pt x="3514892" y="1551649"/>
                </a:lnTo>
                <a:lnTo>
                  <a:pt x="0" y="1551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3715" r="-423099" b="-33737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04478" y="1510219"/>
            <a:ext cx="13079043" cy="90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Google Earth Engine에서 위성영상 불러오기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206285"/>
            <a:ext cx="5164449" cy="44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비상업용으로 등록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33905" y="3206285"/>
            <a:ext cx="5907154" cy="44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조직 유형 선택 및 자격 요건 확인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46555" y="7161768"/>
            <a:ext cx="7167620" cy="1541038"/>
          </a:xfrm>
          <a:custGeom>
            <a:avLst/>
            <a:gdLst/>
            <a:ahLst/>
            <a:cxnLst/>
            <a:rect r="r" b="b" t="t" l="l"/>
            <a:pathLst>
              <a:path h="1541038" w="7167620">
                <a:moveTo>
                  <a:pt x="0" y="0"/>
                </a:moveTo>
                <a:lnTo>
                  <a:pt x="7167620" y="0"/>
                </a:lnTo>
                <a:lnTo>
                  <a:pt x="7167620" y="1541039"/>
                </a:lnTo>
                <a:lnTo>
                  <a:pt x="0" y="1541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526540" y="4430564"/>
            <a:ext cx="1842786" cy="605901"/>
            <a:chOff x="0" y="0"/>
            <a:chExt cx="485343" cy="1595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5343" cy="159579"/>
            </a:xfrm>
            <a:custGeom>
              <a:avLst/>
              <a:gdLst/>
              <a:ahLst/>
              <a:cxnLst/>
              <a:rect r="r" b="b" t="t" l="l"/>
              <a:pathLst>
                <a:path h="159579" w="485343">
                  <a:moveTo>
                    <a:pt x="0" y="0"/>
                  </a:moveTo>
                  <a:lnTo>
                    <a:pt x="485343" y="0"/>
                  </a:lnTo>
                  <a:lnTo>
                    <a:pt x="485343" y="159579"/>
                  </a:lnTo>
                  <a:lnTo>
                    <a:pt x="0" y="159579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85343" cy="197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46555" y="6087156"/>
            <a:ext cx="3407197" cy="595994"/>
            <a:chOff x="0" y="0"/>
            <a:chExt cx="897369" cy="156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7369" cy="156970"/>
            </a:xfrm>
            <a:custGeom>
              <a:avLst/>
              <a:gdLst/>
              <a:ahLst/>
              <a:cxnLst/>
              <a:rect r="r" b="b" t="t" l="l"/>
              <a:pathLst>
                <a:path h="156970" w="897369">
                  <a:moveTo>
                    <a:pt x="0" y="0"/>
                  </a:moveTo>
                  <a:lnTo>
                    <a:pt x="897369" y="0"/>
                  </a:lnTo>
                  <a:lnTo>
                    <a:pt x="897369" y="156970"/>
                  </a:lnTo>
                  <a:lnTo>
                    <a:pt x="0" y="156970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97369" cy="195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338138" y="8062019"/>
            <a:ext cx="712016" cy="329732"/>
            <a:chOff x="0" y="0"/>
            <a:chExt cx="187527" cy="868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7527" cy="86843"/>
            </a:xfrm>
            <a:custGeom>
              <a:avLst/>
              <a:gdLst/>
              <a:ahLst/>
              <a:cxnLst/>
              <a:rect r="r" b="b" t="t" l="l"/>
              <a:pathLst>
                <a:path h="86843" w="187527">
                  <a:moveTo>
                    <a:pt x="0" y="0"/>
                  </a:moveTo>
                  <a:lnTo>
                    <a:pt x="187527" y="0"/>
                  </a:lnTo>
                  <a:lnTo>
                    <a:pt x="187527" y="86843"/>
                  </a:lnTo>
                  <a:lnTo>
                    <a:pt x="0" y="86843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87527" cy="124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575584" y="3390574"/>
            <a:ext cx="4568416" cy="62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프로젝트 → 내가 만든 프로젝트 선택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구성 → 비상업용 시작하기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25154" y="3798837"/>
            <a:ext cx="4568416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1~5번 문항 답변 후 등록 누르기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894720"/>
            <a:ext cx="16230600" cy="6866916"/>
            <a:chOff x="0" y="0"/>
            <a:chExt cx="4530749" cy="1916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30749" cy="1916764"/>
            </a:xfrm>
            <a:custGeom>
              <a:avLst/>
              <a:gdLst/>
              <a:ahLst/>
              <a:cxnLst/>
              <a:rect r="r" b="b" t="t" l="l"/>
              <a:pathLst>
                <a:path h="1916764" w="4530749">
                  <a:moveTo>
                    <a:pt x="4530749" y="0"/>
                  </a:moveTo>
                  <a:lnTo>
                    <a:pt x="4530749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530749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604478" y="1510219"/>
            <a:ext cx="13079043" cy="90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Google Earth Engine에서 위성영상 불러오기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8208" y="3186379"/>
            <a:ext cx="7086744" cy="44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 Colab 코드 실행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836088" y="4066061"/>
            <a:ext cx="14404632" cy="4253286"/>
          </a:xfrm>
          <a:custGeom>
            <a:avLst/>
            <a:gdLst/>
            <a:ahLst/>
            <a:cxnLst/>
            <a:rect r="r" b="b" t="t" l="l"/>
            <a:pathLst>
              <a:path h="4253286" w="14404632">
                <a:moveTo>
                  <a:pt x="0" y="0"/>
                </a:moveTo>
                <a:lnTo>
                  <a:pt x="14404632" y="0"/>
                </a:lnTo>
                <a:lnTo>
                  <a:pt x="14404632" y="4253286"/>
                </a:lnTo>
                <a:lnTo>
                  <a:pt x="0" y="425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04911" y="3327504"/>
            <a:ext cx="4568416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ee, geemap 라이브러리 불러오기 및 인증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921580" y="7762762"/>
            <a:ext cx="896201" cy="367268"/>
            <a:chOff x="0" y="0"/>
            <a:chExt cx="236036" cy="96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6036" cy="96729"/>
            </a:xfrm>
            <a:custGeom>
              <a:avLst/>
              <a:gdLst/>
              <a:ahLst/>
              <a:cxnLst/>
              <a:rect r="r" b="b" t="t" l="l"/>
              <a:pathLst>
                <a:path h="96729" w="236036">
                  <a:moveTo>
                    <a:pt x="0" y="0"/>
                  </a:moveTo>
                  <a:lnTo>
                    <a:pt x="236036" y="0"/>
                  </a:lnTo>
                  <a:lnTo>
                    <a:pt x="236036" y="96729"/>
                  </a:lnTo>
                  <a:lnTo>
                    <a:pt x="0" y="96729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36036" cy="134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379617" y="8660511"/>
            <a:ext cx="4568416" cy="3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내가 설정한 프로젝트명으로 수정</a:t>
            </a:r>
          </a:p>
        </p:txBody>
      </p:sp>
      <p:sp>
        <p:nvSpPr>
          <p:cNvPr name="AutoShape 16" id="16"/>
          <p:cNvSpPr/>
          <p:nvPr/>
        </p:nvSpPr>
        <p:spPr>
          <a:xfrm>
            <a:off x="5398256" y="8100508"/>
            <a:ext cx="0" cy="437678"/>
          </a:xfrm>
          <a:prstGeom prst="line">
            <a:avLst/>
          </a:prstGeom>
          <a:ln cap="flat" w="57150">
            <a:solidFill>
              <a:srgbClr val="DD2E44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850" y="2709365"/>
            <a:ext cx="16024450" cy="2206194"/>
            <a:chOff x="0" y="0"/>
            <a:chExt cx="4473203" cy="615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73203" cy="615816"/>
            </a:xfrm>
            <a:custGeom>
              <a:avLst/>
              <a:gdLst/>
              <a:ahLst/>
              <a:cxnLst/>
              <a:rect r="r" b="b" t="t" l="l"/>
              <a:pathLst>
                <a:path h="615816" w="4473203">
                  <a:moveTo>
                    <a:pt x="4473203" y="0"/>
                  </a:moveTo>
                  <a:lnTo>
                    <a:pt x="4473203" y="615816"/>
                  </a:lnTo>
                  <a:lnTo>
                    <a:pt x="0" y="615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473203" cy="663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4850" y="5292039"/>
            <a:ext cx="5984578" cy="4563241"/>
          </a:xfrm>
          <a:custGeom>
            <a:avLst/>
            <a:gdLst/>
            <a:ahLst/>
            <a:cxnLst/>
            <a:rect r="r" b="b" t="t" l="l"/>
            <a:pathLst>
              <a:path h="4563241" w="5984578">
                <a:moveTo>
                  <a:pt x="0" y="0"/>
                </a:moveTo>
                <a:lnTo>
                  <a:pt x="5984578" y="0"/>
                </a:lnTo>
                <a:lnTo>
                  <a:pt x="5984578" y="4563241"/>
                </a:lnTo>
                <a:lnTo>
                  <a:pt x="0" y="4563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17213" y="5292039"/>
            <a:ext cx="6468463" cy="4563241"/>
          </a:xfrm>
          <a:custGeom>
            <a:avLst/>
            <a:gdLst/>
            <a:ahLst/>
            <a:cxnLst/>
            <a:rect r="r" b="b" t="t" l="l"/>
            <a:pathLst>
              <a:path h="4563241" w="6468463">
                <a:moveTo>
                  <a:pt x="0" y="0"/>
                </a:moveTo>
                <a:lnTo>
                  <a:pt x="6468464" y="0"/>
                </a:lnTo>
                <a:lnTo>
                  <a:pt x="6468464" y="4563241"/>
                </a:lnTo>
                <a:lnTo>
                  <a:pt x="0" y="4563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82671" y="1510219"/>
            <a:ext cx="8922657" cy="90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Sentinel 위성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4836" y="2954823"/>
            <a:ext cx="10437912" cy="215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유럽우주국(ESA)의 다중분광 지구관측 위성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RGB뿐 아니라 근적외선(NIR), 단파적외선(SWIR) 등</a:t>
            </a: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여러</a:t>
            </a: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파장대의 정보 제공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이번 실습에서는 </a:t>
            </a: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수체 탐지 모델의 입력에 필요한 </a:t>
            </a:r>
            <a:r>
              <a:rPr lang="en-US" sz="2199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B4(R), B3(G), B2(B), B8(NIR)</a:t>
            </a: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밴드 사용</a:t>
            </a:r>
          </a:p>
          <a:p>
            <a:pPr algn="l">
              <a:lnSpc>
                <a:spcPts val="4399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7717213" y="6262569"/>
            <a:ext cx="6468463" cy="994432"/>
            <a:chOff x="0" y="0"/>
            <a:chExt cx="1703628" cy="26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3628" cy="261908"/>
            </a:xfrm>
            <a:custGeom>
              <a:avLst/>
              <a:gdLst/>
              <a:ahLst/>
              <a:cxnLst/>
              <a:rect r="r" b="b" t="t" l="l"/>
              <a:pathLst>
                <a:path h="261908" w="1703628">
                  <a:moveTo>
                    <a:pt x="0" y="0"/>
                  </a:moveTo>
                  <a:lnTo>
                    <a:pt x="1703628" y="0"/>
                  </a:lnTo>
                  <a:lnTo>
                    <a:pt x="1703628" y="261908"/>
                  </a:lnTo>
                  <a:lnTo>
                    <a:pt x="0" y="261908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03628" cy="300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17213" y="8084827"/>
            <a:ext cx="6468463" cy="360422"/>
            <a:chOff x="0" y="0"/>
            <a:chExt cx="1703628" cy="949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3628" cy="94926"/>
            </a:xfrm>
            <a:custGeom>
              <a:avLst/>
              <a:gdLst/>
              <a:ahLst/>
              <a:cxnLst/>
              <a:rect r="r" b="b" t="t" l="l"/>
              <a:pathLst>
                <a:path h="94926" w="1703628">
                  <a:moveTo>
                    <a:pt x="0" y="0"/>
                  </a:moveTo>
                  <a:lnTo>
                    <a:pt x="1703628" y="0"/>
                  </a:lnTo>
                  <a:lnTo>
                    <a:pt x="1703628" y="94926"/>
                  </a:lnTo>
                  <a:lnTo>
                    <a:pt x="0" y="94926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03628" cy="133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850" y="2709365"/>
            <a:ext cx="16024450" cy="6709831"/>
            <a:chOff x="0" y="0"/>
            <a:chExt cx="4473203" cy="18729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73203" cy="1872917"/>
            </a:xfrm>
            <a:custGeom>
              <a:avLst/>
              <a:gdLst/>
              <a:ahLst/>
              <a:cxnLst/>
              <a:rect r="r" b="b" t="t" l="l"/>
              <a:pathLst>
                <a:path h="1872917" w="4473203">
                  <a:moveTo>
                    <a:pt x="4473203" y="0"/>
                  </a:moveTo>
                  <a:lnTo>
                    <a:pt x="4473203" y="1872917"/>
                  </a:lnTo>
                  <a:lnTo>
                    <a:pt x="0" y="1872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473203" cy="1920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004288" y="4773651"/>
            <a:ext cx="7236293" cy="3905743"/>
          </a:xfrm>
          <a:custGeom>
            <a:avLst/>
            <a:gdLst/>
            <a:ahLst/>
            <a:cxnLst/>
            <a:rect r="r" b="b" t="t" l="l"/>
            <a:pathLst>
              <a:path h="3905743" w="7236293">
                <a:moveTo>
                  <a:pt x="0" y="0"/>
                </a:moveTo>
                <a:lnTo>
                  <a:pt x="7236292" y="0"/>
                </a:lnTo>
                <a:lnTo>
                  <a:pt x="7236292" y="3905742"/>
                </a:lnTo>
                <a:lnTo>
                  <a:pt x="0" y="390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GeoAI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4836" y="2954823"/>
            <a:ext cx="14122078" cy="547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위성영상, 항공사진, 래스터 데이터에 AI를 적용하여 분류, 객체 탐지, 영역 분할 및</a:t>
            </a: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지</a:t>
            </a: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도 시각화를</a:t>
            </a: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지원하는 Python 라이브러리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이번 실습에서는 </a:t>
            </a: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사전학습된 수체 탐지 모델을 이용해 Sentinel-2 영상의 수체 영역 탐지</a:t>
            </a:r>
          </a:p>
          <a:p>
            <a:pPr algn="l">
              <a:lnSpc>
                <a:spcPts val="4399"/>
              </a:lnSpc>
            </a:pP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데이터 수집 : 위성영상 및 공간정보 데이터 검색·다운로드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데이터셋 생성 : 학습용 이미지와 라벨 자동 생성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모델 학습 : 분류·객체 탐지·영역 분할 모델 학습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모델 적용 : 학습된 모델을 새로운 영상에 적용하여 객체 추출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결과 시각화 : 분석 결과를 지도에서 확인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QGIS 플러그인 : QGIS에서 GeoAI 기능 활용</a:t>
            </a:r>
          </a:p>
          <a:p>
            <a:pPr algn="l">
              <a:lnSpc>
                <a:spcPts val="439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DAHQQY4rZ9k</dc:identifier>
  <dcterms:modified xsi:type="dcterms:W3CDTF">2011-08-01T06:04:30Z</dcterms:modified>
  <cp:revision>1</cp:revision>
  <dc:title>GeoDeep GeoAI</dc:title>
</cp:coreProperties>
</file>